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Vaibhav.</a:t>
            </a:r>
          </a:p>
          <a:p>
            <a:r>
              <a:t>Good morning. We are Group 13 and our assigned project is Legal Retrieval using CaseHOLD. In short, we built a search system that takes a passage from a court judgment and finds the holding of the case it cites. We compared the four ranking methods from the brief: TF-IDF, BM25, a Sentence Transformer and a hybrid using Reciprocal Rank Fusion, and we tried two small extensions on top. I will cover the problem and the data, Pranav will explain the method and main results, and Ishaan will cover the extra experiments, error analysis, the demo and the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Vaibhav.</a:t>
            </a:r>
          </a:p>
          <a:p>
            <a:r>
              <a:t>A holding is the legal rule a case decided. US judgments cite earlier cases constantly, and after the citation there is often a short bracket that starts with 'holding that ...'. A lawyer writing an argument has the reverse problem: they know the point they want to make and they need the case whose holding supports it. So we treat it as search. The query is the passage that does the citing, and the documents are holding statements. The difficulty is that the passage and the holding often describe the same idea in different words, for example 'fears about a gas pipeline' versus 'stigma damages', and legal text has many rare names and citation numbers.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Vaibhav.</a:t>
            </a:r>
          </a:p>
          <a:p>
            <a:r>
              <a:t>CaseHOLD was released by Zheng and others at ICAIL 2021. It has about 53,000 questions built from the Harvard Law Library case law corpus. Each question is a citing passage with the holding replaced by a &lt;HOLDING&gt; marker, plus five candidate holdings, one correct. An important detail: the four wrong answers were chosen as the holdings most similar to the correct one by TF-IDF, so they are on purpose hard to tell apart by word overlap. We used the version in the LexGLUE benchmark on Hugging Face, which has fixed train, validation and test splits; the numbers are in the table. Queries are long, about 136 words, and holdings short, about 25 words, so only a few words overlap.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Vaibhav.</a:t>
            </a:r>
          </a:p>
          <a:p>
            <a:r>
              <a:t>This is test question 0. The passage is about stigma damages near a gas pipeline. Option 4 is correct. Notice that options 1, 2 and 3 are also about severance or stigma damages. That is the TF-IDF based distractor selection I mentioned. A model that only counts shared words can easily be confused between 2, 3 and 4. In our full search setting the model does not even get these five options; it has to find option 4 among 13,297 holdings.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Vaibhav.</a:t>
            </a:r>
          </a:p>
          <a:p>
            <a:r>
              <a:t>CaseHOLD is normally used as a multiple-choice reading test. For an IR project we need a document collection, so we pooled every distinct holding from the test split: 13,297 documents. Every one of the 3,600 test queries has exactly one relevant document in that pool. That is our main, realistic setting. We also report the original five-choice setting, where each query is only compared with its own five options; there random guessing gives 20 percent. One more detail: 1,032 correct holdings also show up as a wrong option for other questions, so the same text can be relevant for one query and irrelevant for another. Important for honesty: we chose all settings on the validation split and only ran the test split once at the end. Pranav will now explain the method.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a:t>
            </a:r>
          </a:p>
          <a:p>
            <a:r>
              <a:t>This is the whole system. The query and the holdings go down two paths. On the top, the sparse path: we clean and stem the text, build an inverted index, and score with TF-IDF and BM25. On the bottom, the dense path: the raw text goes into a small Sentence Transformer called all-MiniLM-L6-v2, which turns each text into a 384-number vector, and we compare vectors with cosine similarity. The ranked lists are merged with Reciprocal Rank Fusion. The cross-encoder box on the right is an extra step we tried; I'll leave it to Ishaan.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a:t>
            </a:r>
          </a:p>
          <a:p>
            <a:r>
              <a:t>For the sparse models we lowercase, remove the HOLDING marker, and split into words. We drop any token with a digit, because citations like '157 F.Supp.2d 949' are unique to one case and only add noise. We remove English stop words plus a few legal words that appear everywhere: 'holding' starts 91 percent of all holdings, so it tells us nothing. Then the Porter stemmer, so 'damages' and 'damage' match. On validation, stemming clearly helped TF-IDF, while stop words alone did not. The inverted index maps each stemmed term to a postings list of holding ids and term counts. We wrote BM25 ourselves on top of it, and checked that our fast matrix version gives the same scores as a plain loop over the postings lists. The dense model does not use any of this; it reads the original sentences.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a:t>
            </a:r>
          </a:p>
          <a:p>
            <a:r>
              <a:t>TF-IDF: each text is a vector of term weights, log term frequency times inverse document frequency, and we rank by cosine similarity. BM25 is the probabilistic model. k1 controls how fast repeated terms stop adding score, and b controls how much long documents are penalised. The Sentence Transformer is all-MiniLM-L6-v2, a 6-layer model, about 90 MB, so it runs on a laptop. It reads up to 256 word pieces. RRF: for each document we add 1 over k plus its rank in each list. It only uses ranks, which is useful because BM25 scores are around 40 while cosine scores are between minus 1 and 1, so we cannot add them directly. k = 60 is the standard value from the original paper by Cormack and others.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a:t>
            </a:r>
          </a:p>
          <a:p>
            <a:r>
              <a:t>We never touched the test split while choosing settings. On the 3,900 validation queries: using the whole passage as the query was best; cutting it to the last 32 words dropped BM25 MRR from 0.307 to 0.214. The heat map is the BM25 grid. The best was k1 = 0.6 and b = 0.9. A low k1 makes sense because holdings are short, so a repeated word should not count much more, and a high b normalises length strongly. For the dense model, MiniLM beat BGE-small (0.234 vs 0.182). For RRF, smaller k was slightly better on validation, k = 1 gave 0.331 versus 0.317 at k = 60. We kept 60 for the main results because it is the standard value, and we show k = 1 as an extra 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a:t>
            </a:r>
          </a:p>
          <a:p>
            <a:r>
              <a:t>These are the four models from the brief on the test split. BM25 is the best single model, MAP 0.323, TF-IDF is close behind. The general-purpose dense model is clearly worse at 0.234: it was trained on web text, not court judgments. Remember Precision@10 can be at most 0.1 here because there is only one right answer. The hybrid gives the best numbers of the four. The MAP gain is small, 0.323 to 0.328, but recall at 100 goes from 0.710 to 0.761. So fusion mostly rescues answers that BM25 put deep in the list. A Wilcoxon signed-rank test says the hybrid's improvement over BM25 is significant. The k = 1 version, chosen on validation, is a bit better again.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a:t>
            </a:r>
          </a:p>
          <a:p>
            <a:r>
              <a:t>The brief asks for a precision-recall graph. With one relevant document per query, the classic 11-point curve would be flat, so we plot mean precision at k against mean recall at k for k from 1 to 100. Precision is on a log scale since it falls roughly like 1 over k. The hybrid curve, in red, is level with BM25 at the first two cut-offs and above it from k = 3. The dense model is lowest everywhere. On the right is recall at k: the green and purple lines are the fine-tuned model and its hybrid, which Ishaan will explain next.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Ishaan.</a:t>
            </a:r>
          </a:p>
          <a:p>
            <a:r>
              <a:t>In the original multiple-choice format every model is far above the 20 percent of random guessing. BM25 gets 0.590. Interesting point: here the hybrid (0.583) is slightly below BM25. Why? The four wrong options were picked by TF-IDF similarity to the right one, so all five share vocabulary, and the extra lexical signal from fusion does not separate them. The best is the fine-tuned dense model at 0.634. For context the CaseHOLD paper reports a macro F1 of about 0.4 for a BiLSTM and about 0.6 for fine-tuned BERT, on their own split and a different metric, so it is not a direct comparison, but our numbers are in a sensible range.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Ishaan.</a:t>
            </a:r>
          </a:p>
          <a:p>
            <a:r>
              <a:t>Since the dense model was weak, we asked whether it just lacks legal knowledge. We fine-tuned the same MiniLM for one epoch on the 45,000 training questions: pairs of passage and correct holding, with one wrong option as a hard negative, using the multiple negatives ranking loss. That means inside a batch of 32 the model must pick the right holding over all others. It took about 11 minutes on the laptop GPU. Its MAP went from 0.234 to 0.389, better than BM25, and fusing it with BM25 gives our best result, 0.400, with recall at 100 of 0.817. The second extension was a cross-encoder re-ranker trained on MS MARCO web search. It made things worse: 0.196. It learned whether a web page answers a short question, which is very different from matching a 140-word legal passage to a holding. Lesson: domain data matters more than model type.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Ishaan.</a:t>
            </a:r>
          </a:p>
          <a:p>
            <a:r>
              <a:t>BM25 and the dense model fail on different queries. BM25 gets rank 1 where the dense model does not in 474 queries, the dense model wins in 204. That disagreement is the reason fusion helps at all. Three examples. Query 3185 is about money structuring offences: the rare word 'structuring' lets BM25 rank the answer first, while the dense model ranks it 129th. Query 296 is the opposite: no shared keywords, BM25 ranks the answer 1,694th, the dense model ranks it first because it understands the meaning. Query 2885 fails everywhere: the passage is about a strip search, but the citation was used for a procedural point about one court panel being bound by another. Nothing in the passage says that, so no ranker could find it. That is a limit of the data. Also, in 44% of queries neither model has the answer in the top 10, and longer holdings are easier because there are more words to match.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Ishaan.</a:t>
            </a:r>
          </a:p>
          <a:p>
            <a:r>
              <a:t>For the demonstration we built a Streamlit app. Run it with: streamlit run app/search_app.py. You can pick any CaseHOLD test query by number or type your own passage. The app shows the query terms after preprocessing, then the top results of TF-IDF, BM25, the dense model and the hybrid side by side, and marks the correct holding. For query 0, TF-IDF, BM25 and the hybrid rank it first and the dense model ranks it second. You can also switch to the fine-tuned dense model in the sidebar. Suggested live demo: query 0, then 3185 and 296 from the error analysis, then type a passage of your own.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Ishaan.</a:t>
            </a:r>
          </a:p>
          <a:p>
            <a:r>
              <a:t>To sum up. BM25 is a very strong baseline on legal text and beat the general-purpose dense model clearly. Reciprocal Rank Fusion helped mostly with recall, because the dense list on its own is weak. The biggest gain came from training on legal data: one epoch of fine-tuning made the small dense model better than BM25, and fusing the two was best overall. Limits: one relevant holding per query, so a holding that is legally fine but not the one cited counts as wrong, and Precision@10 is capped at 0.1. Our pool is the test split's holdings, not a whole case law database. And we used small models because everything ran on one laptop. Next we would try a legal model such as Legal-BERT, train the re-ranker on CaseHOLD, and give the rankers different weights inside RRF.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Ishaan.</a:t>
            </a:r>
          </a:p>
          <a:p>
            <a:r>
              <a:t>Keep this slide up during questions. Code, results and figures are in the project folder; run_all.sh reproduces every number.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28600" cy="6858000"/>
          </a:xfrm>
          <a:prstGeom prst="rect">
            <a:avLst/>
          </a:prstGeom>
          <a:solidFill>
            <a:srgbClr val="1B365D"/>
          </a:solidFill>
          <a:ln>
            <a:noFill/>
          </a:ln>
        </p:spPr>
        <p:txBody>
          <a:bodyPr rtlCol="0" anchor="ctr"/>
          <a:lstStyle/>
          <a:p>
            <a:pPr algn="ctr"/>
          </a:p>
        </p:txBody>
      </p:sp>
      <p:sp>
        <p:nvSpPr>
          <p:cNvPr id="3" name="TextBox 2"/>
          <p:cNvSpPr txBox="1"/>
          <p:nvPr/>
        </p:nvSpPr>
        <p:spPr>
          <a:xfrm>
            <a:off x="914400" y="1371600"/>
            <a:ext cx="10058400" cy="457200"/>
          </a:xfrm>
          <a:prstGeom prst="rect">
            <a:avLst/>
          </a:prstGeom>
          <a:noFill/>
        </p:spPr>
        <p:txBody>
          <a:bodyPr wrap="square" anchor="t" lIns="45720" rIns="45720">
            <a:spAutoFit/>
          </a:bodyPr>
          <a:lstStyle/>
          <a:p>
            <a:pPr algn="l">
              <a:spcAft>
                <a:spcPts val="600"/>
              </a:spcAft>
            </a:pPr>
            <a:r>
              <a:rPr sz="1800" b="1">
                <a:solidFill>
                  <a:srgbClr val="008080"/>
                </a:solidFill>
                <a:latin typeface="Calibri"/>
              </a:rPr>
              <a:t>CSE4144 Information Retrieval · Project 13</a:t>
            </a:r>
          </a:p>
        </p:txBody>
      </p:sp>
      <p:sp>
        <p:nvSpPr>
          <p:cNvPr id="4" name="TextBox 3"/>
          <p:cNvSpPr txBox="1"/>
          <p:nvPr/>
        </p:nvSpPr>
        <p:spPr>
          <a:xfrm>
            <a:off x="914400" y="1874519"/>
            <a:ext cx="10332720" cy="1737360"/>
          </a:xfrm>
          <a:prstGeom prst="rect">
            <a:avLst/>
          </a:prstGeom>
          <a:noFill/>
        </p:spPr>
        <p:txBody>
          <a:bodyPr wrap="square" anchor="t" lIns="45720" rIns="45720">
            <a:spAutoFit/>
          </a:bodyPr>
          <a:lstStyle/>
          <a:p>
            <a:pPr algn="l">
              <a:spcAft>
                <a:spcPts val="600"/>
              </a:spcAft>
            </a:pPr>
            <a:r>
              <a:rPr sz="4400" b="1">
                <a:solidFill>
                  <a:srgbClr val="1B365D"/>
                </a:solidFill>
                <a:latin typeface="Calibri"/>
              </a:rPr>
              <a:t>Legal Retrieval using CaseHOLD</a:t>
            </a:r>
          </a:p>
        </p:txBody>
      </p:sp>
      <p:sp>
        <p:nvSpPr>
          <p:cNvPr id="5" name="TextBox 4"/>
          <p:cNvSpPr txBox="1"/>
          <p:nvPr/>
        </p:nvSpPr>
        <p:spPr>
          <a:xfrm>
            <a:off x="914400" y="2880360"/>
            <a:ext cx="10332720" cy="914400"/>
          </a:xfrm>
          <a:prstGeom prst="rect">
            <a:avLst/>
          </a:prstGeom>
          <a:noFill/>
        </p:spPr>
        <p:txBody>
          <a:bodyPr wrap="square" anchor="t" lIns="45720" rIns="45720">
            <a:spAutoFit/>
          </a:bodyPr>
          <a:lstStyle/>
          <a:p>
            <a:pPr algn="l">
              <a:spcAft>
                <a:spcPts val="600"/>
              </a:spcAft>
            </a:pPr>
            <a:r>
              <a:rPr sz="2200" b="0">
                <a:solidFill>
                  <a:srgbClr val="595959"/>
                </a:solidFill>
                <a:latin typeface="Calibri"/>
              </a:rPr>
              <a:t>Comparing TF-IDF, BM25, a Sentence Transformer and Hybrid RRF for finding the holding a court cites</a:t>
            </a:r>
          </a:p>
        </p:txBody>
      </p:sp>
      <p:sp>
        <p:nvSpPr>
          <p:cNvPr id="6" name="Rectangle 5"/>
          <p:cNvSpPr/>
          <p:nvPr/>
        </p:nvSpPr>
        <p:spPr>
          <a:xfrm>
            <a:off x="914400" y="3977639"/>
            <a:ext cx="5029200" cy="27432"/>
          </a:xfrm>
          <a:prstGeom prst="rect">
            <a:avLst/>
          </a:prstGeom>
          <a:solidFill>
            <a:srgbClr val="1B365D"/>
          </a:solidFill>
          <a:ln>
            <a:noFill/>
          </a:ln>
        </p:spPr>
        <p:txBody>
          <a:bodyPr rtlCol="0" anchor="ctr"/>
          <a:lstStyle/>
          <a:p>
            <a:pPr algn="ctr"/>
          </a:p>
        </p:txBody>
      </p:sp>
      <p:sp>
        <p:nvSpPr>
          <p:cNvPr id="7" name="TextBox 6"/>
          <p:cNvSpPr txBox="1"/>
          <p:nvPr/>
        </p:nvSpPr>
        <p:spPr>
          <a:xfrm>
            <a:off x="914400" y="4206240"/>
            <a:ext cx="10058400" cy="1463040"/>
          </a:xfrm>
          <a:prstGeom prst="rect">
            <a:avLst/>
          </a:prstGeom>
          <a:noFill/>
        </p:spPr>
        <p:txBody>
          <a:bodyPr wrap="square" anchor="t" lIns="45720" rIns="45720">
            <a:spAutoFit/>
          </a:bodyPr>
          <a:lstStyle/>
          <a:p>
            <a:pPr algn="l">
              <a:spcAft>
                <a:spcPts val="200"/>
              </a:spcAft>
            </a:pPr>
            <a:r>
              <a:rPr sz="1800" b="1">
                <a:solidFill>
                  <a:srgbClr val="222222"/>
                </a:solidFill>
                <a:latin typeface="Calibri"/>
              </a:rPr>
              <a:t>Group 13</a:t>
            </a:r>
          </a:p>
          <a:p>
            <a:pPr algn="l">
              <a:spcAft>
                <a:spcPts val="200"/>
              </a:spcAft>
            </a:pPr>
            <a:r>
              <a:rPr sz="1800" b="0">
                <a:solidFill>
                  <a:srgbClr val="222222"/>
                </a:solidFill>
                <a:latin typeface="Calibri"/>
              </a:rPr>
              <a:t>Vaibhav Bansal (23FE10CSE00333)</a:t>
            </a:r>
          </a:p>
          <a:p>
            <a:pPr algn="l">
              <a:spcAft>
                <a:spcPts val="200"/>
              </a:spcAft>
            </a:pPr>
            <a:r>
              <a:rPr sz="1800" b="0">
                <a:solidFill>
                  <a:srgbClr val="222222"/>
                </a:solidFill>
                <a:latin typeface="Calibri"/>
              </a:rPr>
              <a:t>Pranav Joshi (23FE10CSE00701)</a:t>
            </a:r>
          </a:p>
          <a:p>
            <a:pPr algn="l">
              <a:spcAft>
                <a:spcPts val="200"/>
              </a:spcAft>
            </a:pPr>
            <a:r>
              <a:rPr sz="1800" b="0">
                <a:solidFill>
                  <a:srgbClr val="222222"/>
                </a:solidFill>
                <a:latin typeface="Calibri"/>
              </a:rPr>
              <a:t>Ishaan Manocha (23FE10CSE00143)</a:t>
            </a:r>
          </a:p>
        </p:txBody>
      </p:sp>
      <p:sp>
        <p:nvSpPr>
          <p:cNvPr id="8" name="TextBox 7"/>
          <p:cNvSpPr txBox="1"/>
          <p:nvPr/>
        </p:nvSpPr>
        <p:spPr>
          <a:xfrm>
            <a:off x="914400" y="5989320"/>
            <a:ext cx="10058400" cy="365760"/>
          </a:xfrm>
          <a:prstGeom prst="rect">
            <a:avLst/>
          </a:prstGeom>
          <a:noFill/>
        </p:spPr>
        <p:txBody>
          <a:bodyPr wrap="square" anchor="t" lIns="45720" rIns="45720">
            <a:spAutoFit/>
          </a:bodyPr>
          <a:lstStyle/>
          <a:p>
            <a:pPr algn="l">
              <a:spcAft>
                <a:spcPts val="600"/>
              </a:spcAft>
            </a:pPr>
            <a:r>
              <a:rPr sz="1300" b="0">
                <a:solidFill>
                  <a:srgbClr val="595959"/>
                </a:solidFill>
                <a:latin typeface="Calibri"/>
              </a:rPr>
              <a:t>B.Tech CSE, Semester VII · Manipal University Jaipur ·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The problem: finding the holding a court relies on</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Introduction</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2 / 17</a:t>
            </a:r>
          </a:p>
        </p:txBody>
      </p:sp>
      <p:sp>
        <p:nvSpPr>
          <p:cNvPr id="7" name="TextBox 6"/>
          <p:cNvSpPr txBox="1"/>
          <p:nvPr/>
        </p:nvSpPr>
        <p:spPr>
          <a:xfrm>
            <a:off x="548640" y="1417320"/>
            <a:ext cx="5760720" cy="4389120"/>
          </a:xfrm>
          <a:prstGeom prst="rect">
            <a:avLst/>
          </a:prstGeom>
          <a:noFill/>
        </p:spPr>
        <p:txBody>
          <a:bodyPr wrap="square" anchor="t" lIns="45720" rIns="45720">
            <a:spAutoFit/>
          </a:bodyPr>
          <a:lstStyle/>
          <a:p>
            <a:pPr algn="l">
              <a:spcAft>
                <a:spcPts val="1400"/>
              </a:spcAft>
            </a:pPr>
            <a:r>
              <a:rPr sz="2000" b="0">
                <a:solidFill>
                  <a:srgbClr val="222222"/>
                </a:solidFill>
                <a:latin typeface="Calibri"/>
              </a:rPr>
              <a:t>Courts back every legal claim with a citation to an earlier case.</a:t>
            </a:r>
          </a:p>
          <a:p>
            <a:pPr algn="l">
              <a:spcAft>
                <a:spcPts val="1400"/>
              </a:spcAft>
            </a:pPr>
            <a:r>
              <a:rPr sz="2000" b="0">
                <a:solidFill>
                  <a:srgbClr val="222222"/>
                </a:solidFill>
                <a:latin typeface="Calibri"/>
              </a:rPr>
              <a:t>The citation is often followed by its holding: what that case actually decided.</a:t>
            </a:r>
          </a:p>
          <a:p>
            <a:pPr algn="l">
              <a:spcAft>
                <a:spcPts val="1400"/>
              </a:spcAft>
            </a:pPr>
            <a:r>
              <a:rPr sz="2000" b="0">
                <a:solidFill>
                  <a:srgbClr val="222222"/>
                </a:solidFill>
                <a:latin typeface="Calibri"/>
              </a:rPr>
              <a:t>A lawyer needs the reverse: given the argument, find the case whose holding supports it.</a:t>
            </a:r>
          </a:p>
          <a:p>
            <a:pPr algn="l">
              <a:spcAft>
                <a:spcPts val="1400"/>
              </a:spcAft>
            </a:pPr>
            <a:r>
              <a:rPr sz="2000" b="1">
                <a:solidFill>
                  <a:srgbClr val="1B365D"/>
                </a:solidFill>
                <a:latin typeface="Calibri"/>
              </a:rPr>
              <a:t>Our task: </a:t>
            </a:r>
            <a:r>
              <a:rPr sz="2000" b="0">
                <a:solidFill>
                  <a:srgbClr val="222222"/>
                </a:solidFill>
                <a:latin typeface="Calibri"/>
              </a:rPr>
              <a:t>query = the citing passage, documents = holding statements, goal = rank the cited holding first.</a:t>
            </a:r>
          </a:p>
        </p:txBody>
      </p:sp>
      <p:sp>
        <p:nvSpPr>
          <p:cNvPr id="8" name="Rectangle 7"/>
          <p:cNvSpPr/>
          <p:nvPr/>
        </p:nvSpPr>
        <p:spPr>
          <a:xfrm>
            <a:off x="6675120" y="1463040"/>
            <a:ext cx="4937760" cy="4206240"/>
          </a:xfrm>
          <a:prstGeom prst="rect">
            <a:avLst/>
          </a:prstGeom>
          <a:solidFill>
            <a:srgbClr val="F4F6F8"/>
          </a:solidFill>
          <a:ln>
            <a:noFill/>
          </a:ln>
        </p:spPr>
        <p:txBody>
          <a:bodyPr rtlCol="0" anchor="ctr"/>
          <a:lstStyle/>
          <a:p>
            <a:pPr algn="ctr"/>
          </a:p>
        </p:txBody>
      </p:sp>
      <p:sp>
        <p:nvSpPr>
          <p:cNvPr id="9" name="Rectangle 8"/>
          <p:cNvSpPr/>
          <p:nvPr/>
        </p:nvSpPr>
        <p:spPr>
          <a:xfrm>
            <a:off x="6675120" y="1463040"/>
            <a:ext cx="73152" cy="4206240"/>
          </a:xfrm>
          <a:prstGeom prst="rect">
            <a:avLst/>
          </a:prstGeom>
          <a:solidFill>
            <a:srgbClr val="1B365D"/>
          </a:solidFill>
          <a:ln>
            <a:noFill/>
          </a:ln>
        </p:spPr>
        <p:txBody>
          <a:bodyPr rtlCol="0" anchor="ctr"/>
          <a:lstStyle/>
          <a:p>
            <a:pPr algn="ctr"/>
          </a:p>
        </p:txBody>
      </p:sp>
      <p:sp>
        <p:nvSpPr>
          <p:cNvPr id="10" name="TextBox 9"/>
          <p:cNvSpPr txBox="1"/>
          <p:nvPr/>
        </p:nvSpPr>
        <p:spPr>
          <a:xfrm>
            <a:off x="6949440" y="1600200"/>
            <a:ext cx="4572000" cy="4023360"/>
          </a:xfrm>
          <a:prstGeom prst="rect">
            <a:avLst/>
          </a:prstGeom>
          <a:noFill/>
        </p:spPr>
        <p:txBody>
          <a:bodyPr wrap="square" anchor="t" lIns="45720" rIns="45720">
            <a:spAutoFit/>
          </a:bodyPr>
          <a:lstStyle/>
          <a:p>
            <a:pPr algn="l">
              <a:spcAft>
                <a:spcPts val="1000"/>
              </a:spcAft>
            </a:pPr>
            <a:r>
              <a:rPr sz="1700" b="1">
                <a:solidFill>
                  <a:srgbClr val="008080"/>
                </a:solidFill>
                <a:latin typeface="Calibri"/>
              </a:rPr>
              <a:t>Query (part of the citing passage)</a:t>
            </a:r>
          </a:p>
          <a:p>
            <a:pPr algn="l">
              <a:spcAft>
                <a:spcPts val="1000"/>
              </a:spcAft>
            </a:pPr>
            <a:r>
              <a:rPr sz="1700" b="0">
                <a:solidFill>
                  <a:srgbClr val="222222"/>
                </a:solidFill>
                <a:latin typeface="Calibri"/>
              </a:rPr>
              <a:t>“...the anticipation of increased interference or potential hazards on the land remaining after a taking, which one court has labeled ‘stigma damages,’ can be considered in assessing severance damages. See, e.g., Vector Pipeline v. 68.55 Acres of Land (&lt;HOLDING&gt;)”</a:t>
            </a:r>
          </a:p>
          <a:p>
            <a:pPr algn="l">
              <a:spcAft>
                <a:spcPts val="1000"/>
              </a:spcAft>
            </a:pPr>
            <a:r>
              <a:rPr sz="1700" b="1">
                <a:solidFill>
                  <a:srgbClr val="008080"/>
                </a:solidFill>
                <a:latin typeface="Calibri"/>
              </a:rPr>
              <a:t>Document we should return</a:t>
            </a:r>
          </a:p>
          <a:p>
            <a:pPr algn="l">
              <a:spcAft>
                <a:spcPts val="1000"/>
              </a:spcAft>
            </a:pPr>
            <a:r>
              <a:rPr sz="1700" b="0">
                <a:solidFill>
                  <a:srgbClr val="222222"/>
                </a:solidFill>
                <a:latin typeface="Calibri"/>
              </a:rPr>
              <a:t>holding that stigma damages were properly included in calculation of severance damages where proximity of gas pipeline could trigger fears about possible mishaps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Dataset: CaseHOLD</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About the dataset</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3 / 17</a:t>
            </a:r>
          </a:p>
        </p:txBody>
      </p:sp>
      <p:graphicFrame>
        <p:nvGraphicFramePr>
          <p:cNvPr id="7" name="Table 6"/>
          <p:cNvGraphicFramePr>
            <a:graphicFrameLocks noGrp="1"/>
          </p:cNvGraphicFramePr>
          <p:nvPr/>
        </p:nvGraphicFramePr>
        <p:xfrm>
          <a:off x="548640" y="1463040"/>
          <a:ext cx="5852160" cy="1536192"/>
        </p:xfrm>
        <a:graphic>
          <a:graphicData uri="http://schemas.openxmlformats.org/drawingml/2006/table">
            <a:tbl>
              <a:tblPr firstRow="0" bandRow="0">
                <a:tableStyleId>{5940675A-B579-460E-94D1-54222C63F5DA}</a:tableStyleId>
              </a:tblPr>
              <a:tblGrid>
                <a:gridCol w="1280160"/>
                <a:gridCol w="1005840"/>
                <a:gridCol w="1371600"/>
                <a:gridCol w="1097280"/>
                <a:gridCol w="1097280"/>
              </a:tblGrid>
              <a:tr h="384048">
                <a:tc>
                  <a:txBody>
                    <a:bodyPr/>
                    <a:lstStyle/>
                    <a:p>
                      <a:pPr algn="l"/>
                      <a:r>
                        <a:rPr sz="1400" b="1">
                          <a:solidFill>
                            <a:srgbClr val="FFFFFF"/>
                          </a:solidFill>
                          <a:latin typeface="Calibri"/>
                        </a:rPr>
                        <a:t>Split</a:t>
                      </a:r>
                    </a:p>
                  </a:txBody>
                  <a:tcPr marL="73152" marR="73152" anchor="ctr">
                    <a:solidFill>
                      <a:srgbClr val="1B365D"/>
                    </a:solidFill>
                  </a:tcPr>
                </a:tc>
                <a:tc>
                  <a:txBody>
                    <a:bodyPr/>
                    <a:lstStyle/>
                    <a:p>
                      <a:pPr algn="ctr"/>
                      <a:r>
                        <a:rPr sz="1400" b="1">
                          <a:solidFill>
                            <a:srgbClr val="FFFFFF"/>
                          </a:solidFill>
                          <a:latin typeface="Calibri"/>
                        </a:rPr>
                        <a:t>Queries</a:t>
                      </a:r>
                    </a:p>
                  </a:txBody>
                  <a:tcPr marL="73152" marR="73152" anchor="ctr">
                    <a:solidFill>
                      <a:srgbClr val="1B365D"/>
                    </a:solidFill>
                  </a:tcPr>
                </a:tc>
                <a:tc>
                  <a:txBody>
                    <a:bodyPr/>
                    <a:lstStyle/>
                    <a:p>
                      <a:pPr algn="ctr"/>
                      <a:r>
                        <a:rPr sz="1400" b="1">
                          <a:solidFill>
                            <a:srgbClr val="FFFFFF"/>
                          </a:solidFill>
                          <a:latin typeface="Calibri"/>
                        </a:rPr>
                        <a:t>Unique holdings</a:t>
                      </a:r>
                    </a:p>
                  </a:txBody>
                  <a:tcPr marL="73152" marR="73152" anchor="ctr">
                    <a:solidFill>
                      <a:srgbClr val="1B365D"/>
                    </a:solidFill>
                  </a:tcPr>
                </a:tc>
                <a:tc>
                  <a:txBody>
                    <a:bodyPr/>
                    <a:lstStyle/>
                    <a:p>
                      <a:pPr algn="ctr"/>
                      <a:r>
                        <a:rPr sz="1400" b="1">
                          <a:solidFill>
                            <a:srgbClr val="FFFFFF"/>
                          </a:solidFill>
                          <a:latin typeface="Calibri"/>
                        </a:rPr>
                        <a:t>Words / query</a:t>
                      </a:r>
                    </a:p>
                  </a:txBody>
                  <a:tcPr marL="73152" marR="73152" anchor="ctr">
                    <a:solidFill>
                      <a:srgbClr val="1B365D"/>
                    </a:solidFill>
                  </a:tcPr>
                </a:tc>
                <a:tc>
                  <a:txBody>
                    <a:bodyPr/>
                    <a:lstStyle/>
                    <a:p>
                      <a:pPr algn="ctr"/>
                      <a:r>
                        <a:rPr sz="1400" b="1">
                          <a:solidFill>
                            <a:srgbClr val="FFFFFF"/>
                          </a:solidFill>
                          <a:latin typeface="Calibri"/>
                        </a:rPr>
                        <a:t>Words / holding</a:t>
                      </a:r>
                    </a:p>
                  </a:txBody>
                  <a:tcPr marL="73152" marR="73152" anchor="ctr">
                    <a:solidFill>
                      <a:srgbClr val="1B365D"/>
                    </a:solidFill>
                  </a:tcPr>
                </a:tc>
              </a:tr>
              <a:tr h="384048">
                <a:tc>
                  <a:txBody>
                    <a:bodyPr/>
                    <a:lstStyle/>
                    <a:p>
                      <a:pPr algn="l"/>
                      <a:r>
                        <a:rPr sz="1400" b="0">
                          <a:solidFill>
                            <a:srgbClr val="222222"/>
                          </a:solidFill>
                          <a:latin typeface="Calibri"/>
                        </a:rPr>
                        <a:t>Train</a:t>
                      </a:r>
                    </a:p>
                  </a:txBody>
                  <a:tcPr marL="73152" marR="73152" anchor="ctr">
                    <a:solidFill>
                      <a:srgbClr val="F9FAFB"/>
                    </a:solidFill>
                  </a:tcPr>
                </a:tc>
                <a:tc>
                  <a:txBody>
                    <a:bodyPr/>
                    <a:lstStyle/>
                    <a:p>
                      <a:pPr algn="ctr"/>
                      <a:r>
                        <a:rPr sz="1400" b="0">
                          <a:solidFill>
                            <a:srgbClr val="222222"/>
                          </a:solidFill>
                          <a:latin typeface="Calibri"/>
                        </a:rPr>
                        <a:t>45,000</a:t>
                      </a:r>
                    </a:p>
                  </a:txBody>
                  <a:tcPr marL="73152" marR="73152" anchor="ctr">
                    <a:solidFill>
                      <a:srgbClr val="F9FAFB"/>
                    </a:solidFill>
                  </a:tcPr>
                </a:tc>
                <a:tc>
                  <a:txBody>
                    <a:bodyPr/>
                    <a:lstStyle/>
                    <a:p>
                      <a:pPr algn="ctr"/>
                      <a:r>
                        <a:rPr sz="1400" b="0">
                          <a:solidFill>
                            <a:srgbClr val="222222"/>
                          </a:solidFill>
                          <a:latin typeface="Calibri"/>
                        </a:rPr>
                        <a:t>50,291</a:t>
                      </a:r>
                    </a:p>
                  </a:txBody>
                  <a:tcPr marL="73152" marR="73152" anchor="ctr">
                    <a:solidFill>
                      <a:srgbClr val="F9FAFB"/>
                    </a:solidFill>
                  </a:tcPr>
                </a:tc>
                <a:tc>
                  <a:txBody>
                    <a:bodyPr/>
                    <a:lstStyle/>
                    <a:p>
                      <a:pPr algn="ctr"/>
                      <a:r>
                        <a:rPr sz="1400" b="0">
                          <a:solidFill>
                            <a:srgbClr val="222222"/>
                          </a:solidFill>
                          <a:latin typeface="Calibri"/>
                        </a:rPr>
                        <a:t>136.3</a:t>
                      </a:r>
                    </a:p>
                  </a:txBody>
                  <a:tcPr marL="73152" marR="73152" anchor="ctr">
                    <a:solidFill>
                      <a:srgbClr val="F9FAFB"/>
                    </a:solidFill>
                  </a:tcPr>
                </a:tc>
                <a:tc>
                  <a:txBody>
                    <a:bodyPr/>
                    <a:lstStyle/>
                    <a:p>
                      <a:pPr algn="ctr"/>
                      <a:r>
                        <a:rPr sz="1400" b="0">
                          <a:solidFill>
                            <a:srgbClr val="222222"/>
                          </a:solidFill>
                          <a:latin typeface="Calibri"/>
                        </a:rPr>
                        <a:t>26.4</a:t>
                      </a:r>
                    </a:p>
                  </a:txBody>
                  <a:tcPr marL="73152" marR="73152" anchor="ctr">
                    <a:solidFill>
                      <a:srgbClr val="F9FAFB"/>
                    </a:solidFill>
                  </a:tcPr>
                </a:tc>
              </a:tr>
              <a:tr h="384048">
                <a:tc>
                  <a:txBody>
                    <a:bodyPr/>
                    <a:lstStyle/>
                    <a:p>
                      <a:pPr algn="l"/>
                      <a:r>
                        <a:rPr sz="1400" b="0">
                          <a:solidFill>
                            <a:srgbClr val="222222"/>
                          </a:solidFill>
                          <a:latin typeface="Calibri"/>
                        </a:rPr>
                        <a:t>Validation</a:t>
                      </a:r>
                    </a:p>
                  </a:txBody>
                  <a:tcPr marL="73152" marR="73152" anchor="ctr">
                    <a:solidFill>
                      <a:srgbClr val="FFFFFF"/>
                    </a:solidFill>
                  </a:tcPr>
                </a:tc>
                <a:tc>
                  <a:txBody>
                    <a:bodyPr/>
                    <a:lstStyle/>
                    <a:p>
                      <a:pPr algn="ctr"/>
                      <a:r>
                        <a:rPr sz="1400" b="0">
                          <a:solidFill>
                            <a:srgbClr val="222222"/>
                          </a:solidFill>
                          <a:latin typeface="Calibri"/>
                        </a:rPr>
                        <a:t>3,900</a:t>
                      </a:r>
                    </a:p>
                  </a:txBody>
                  <a:tcPr marL="73152" marR="73152" anchor="ctr">
                    <a:solidFill>
                      <a:srgbClr val="FFFFFF"/>
                    </a:solidFill>
                  </a:tcPr>
                </a:tc>
                <a:tc>
                  <a:txBody>
                    <a:bodyPr/>
                    <a:lstStyle/>
                    <a:p>
                      <a:pPr algn="ctr"/>
                      <a:r>
                        <a:rPr sz="1400" b="0">
                          <a:solidFill>
                            <a:srgbClr val="222222"/>
                          </a:solidFill>
                          <a:latin typeface="Calibri"/>
                        </a:rPr>
                        <a:t>14,138</a:t>
                      </a:r>
                    </a:p>
                  </a:txBody>
                  <a:tcPr marL="73152" marR="73152" anchor="ctr">
                    <a:solidFill>
                      <a:srgbClr val="FFFFFF"/>
                    </a:solidFill>
                  </a:tcPr>
                </a:tc>
                <a:tc>
                  <a:txBody>
                    <a:bodyPr/>
                    <a:lstStyle/>
                    <a:p>
                      <a:pPr algn="ctr"/>
                      <a:r>
                        <a:rPr sz="1400" b="0">
                          <a:solidFill>
                            <a:srgbClr val="222222"/>
                          </a:solidFill>
                          <a:latin typeface="Calibri"/>
                        </a:rPr>
                        <a:t>136.3</a:t>
                      </a:r>
                    </a:p>
                  </a:txBody>
                  <a:tcPr marL="73152" marR="73152" anchor="ctr">
                    <a:solidFill>
                      <a:srgbClr val="FFFFFF"/>
                    </a:solidFill>
                  </a:tcPr>
                </a:tc>
                <a:tc>
                  <a:txBody>
                    <a:bodyPr/>
                    <a:lstStyle/>
                    <a:p>
                      <a:pPr algn="ctr"/>
                      <a:r>
                        <a:rPr sz="1400" b="0">
                          <a:solidFill>
                            <a:srgbClr val="222222"/>
                          </a:solidFill>
                          <a:latin typeface="Calibri"/>
                        </a:rPr>
                        <a:t>25.4</a:t>
                      </a:r>
                    </a:p>
                  </a:txBody>
                  <a:tcPr marL="73152" marR="73152" anchor="ctr">
                    <a:solidFill>
                      <a:srgbClr val="FFFFFF"/>
                    </a:solidFill>
                  </a:tcPr>
                </a:tc>
              </a:tr>
              <a:tr h="384048">
                <a:tc>
                  <a:txBody>
                    <a:bodyPr/>
                    <a:lstStyle/>
                    <a:p>
                      <a:pPr algn="l"/>
                      <a:r>
                        <a:rPr sz="1400" b="0">
                          <a:solidFill>
                            <a:srgbClr val="222222"/>
                          </a:solidFill>
                          <a:latin typeface="Calibri"/>
                        </a:rPr>
                        <a:t>Test</a:t>
                      </a:r>
                    </a:p>
                  </a:txBody>
                  <a:tcPr marL="73152" marR="73152" anchor="ctr">
                    <a:solidFill>
                      <a:srgbClr val="F9FAFB"/>
                    </a:solidFill>
                  </a:tcPr>
                </a:tc>
                <a:tc>
                  <a:txBody>
                    <a:bodyPr/>
                    <a:lstStyle/>
                    <a:p>
                      <a:pPr algn="ctr"/>
                      <a:r>
                        <a:rPr sz="1400" b="0">
                          <a:solidFill>
                            <a:srgbClr val="222222"/>
                          </a:solidFill>
                          <a:latin typeface="Calibri"/>
                        </a:rPr>
                        <a:t>3,600</a:t>
                      </a:r>
                    </a:p>
                  </a:txBody>
                  <a:tcPr marL="73152" marR="73152" anchor="ctr">
                    <a:solidFill>
                      <a:srgbClr val="F9FAFB"/>
                    </a:solidFill>
                  </a:tcPr>
                </a:tc>
                <a:tc>
                  <a:txBody>
                    <a:bodyPr/>
                    <a:lstStyle/>
                    <a:p>
                      <a:pPr algn="ctr"/>
                      <a:r>
                        <a:rPr sz="1400" b="0">
                          <a:solidFill>
                            <a:srgbClr val="222222"/>
                          </a:solidFill>
                          <a:latin typeface="Calibri"/>
                        </a:rPr>
                        <a:t>13,297</a:t>
                      </a:r>
                    </a:p>
                  </a:txBody>
                  <a:tcPr marL="73152" marR="73152" anchor="ctr">
                    <a:solidFill>
                      <a:srgbClr val="F9FAFB"/>
                    </a:solidFill>
                  </a:tcPr>
                </a:tc>
                <a:tc>
                  <a:txBody>
                    <a:bodyPr/>
                    <a:lstStyle/>
                    <a:p>
                      <a:pPr algn="ctr"/>
                      <a:r>
                        <a:rPr sz="1400" b="0">
                          <a:solidFill>
                            <a:srgbClr val="222222"/>
                          </a:solidFill>
                          <a:latin typeface="Calibri"/>
                        </a:rPr>
                        <a:t>136.4</a:t>
                      </a:r>
                    </a:p>
                  </a:txBody>
                  <a:tcPr marL="73152" marR="73152" anchor="ctr">
                    <a:solidFill>
                      <a:srgbClr val="F9FAFB"/>
                    </a:solidFill>
                  </a:tcPr>
                </a:tc>
                <a:tc>
                  <a:txBody>
                    <a:bodyPr/>
                    <a:lstStyle/>
                    <a:p>
                      <a:pPr algn="ctr"/>
                      <a:r>
                        <a:rPr sz="1400" b="0">
                          <a:solidFill>
                            <a:srgbClr val="222222"/>
                          </a:solidFill>
                          <a:latin typeface="Calibri"/>
                        </a:rPr>
                        <a:t>25.4</a:t>
                      </a:r>
                    </a:p>
                  </a:txBody>
                  <a:tcPr marL="73152" marR="73152" anchor="ctr">
                    <a:solidFill>
                      <a:srgbClr val="F9FAFB"/>
                    </a:solidFill>
                  </a:tcPr>
                </a:tc>
              </a:tr>
            </a:tbl>
          </a:graphicData>
        </a:graphic>
      </p:graphicFrame>
      <p:sp>
        <p:nvSpPr>
          <p:cNvPr id="8" name="TextBox 7"/>
          <p:cNvSpPr txBox="1"/>
          <p:nvPr/>
        </p:nvSpPr>
        <p:spPr>
          <a:xfrm>
            <a:off x="548640" y="3200400"/>
            <a:ext cx="5852160" cy="2926080"/>
          </a:xfrm>
          <a:prstGeom prst="rect">
            <a:avLst/>
          </a:prstGeom>
          <a:noFill/>
        </p:spPr>
        <p:txBody>
          <a:bodyPr wrap="square" anchor="t" lIns="45720" rIns="45720">
            <a:spAutoFit/>
          </a:bodyPr>
          <a:lstStyle/>
          <a:p>
            <a:pPr algn="l">
              <a:spcAft>
                <a:spcPts val="1200"/>
              </a:spcAft>
            </a:pPr>
            <a:r>
              <a:rPr sz="1800" b="0">
                <a:solidFill>
                  <a:srgbClr val="222222"/>
                </a:solidFill>
                <a:latin typeface="Calibri"/>
              </a:rPr>
              <a:t>From US federal and state court decisions (Harvard Law Library corpus).</a:t>
            </a:r>
          </a:p>
          <a:p>
            <a:pPr algn="l">
              <a:spcAft>
                <a:spcPts val="1200"/>
              </a:spcAft>
            </a:pPr>
            <a:r>
              <a:rPr sz="1800" b="0">
                <a:solidFill>
                  <a:srgbClr val="222222"/>
                </a:solidFill>
                <a:latin typeface="Calibri"/>
              </a:rPr>
              <a:t>Each question: citing passage + 5 holdings, exactly one correct.</a:t>
            </a:r>
          </a:p>
          <a:p>
            <a:pPr algn="l">
              <a:spcAft>
                <a:spcPts val="1200"/>
              </a:spcAft>
            </a:pPr>
            <a:r>
              <a:rPr sz="1800" b="1">
                <a:solidFill>
                  <a:srgbClr val="1B365D"/>
                </a:solidFill>
                <a:latin typeface="Calibri"/>
              </a:rPr>
              <a:t>The 4 wrong holdings were picked by TF-IDF similarity </a:t>
            </a:r>
            <a:r>
              <a:rPr sz="1800" b="0">
                <a:solidFill>
                  <a:srgbClr val="222222"/>
                </a:solidFill>
                <a:latin typeface="Calibri"/>
              </a:rPr>
              <a:t>to the right one, to make the task hard.</a:t>
            </a:r>
          </a:p>
          <a:p>
            <a:pPr algn="l">
              <a:spcAft>
                <a:spcPts val="1200"/>
              </a:spcAft>
            </a:pPr>
            <a:r>
              <a:rPr sz="1800" b="0">
                <a:solidFill>
                  <a:srgbClr val="222222"/>
                </a:solidFill>
                <a:latin typeface="Calibri"/>
              </a:rPr>
              <a:t>We use the LexGLUE copy (coastalcph/lex_glue, case_hold).</a:t>
            </a:r>
          </a:p>
        </p:txBody>
      </p:sp>
      <p:pic>
        <p:nvPicPr>
          <p:cNvPr id="9" name="Picture 8" descr="dataset_lengths.png"/>
          <p:cNvPicPr>
            <a:picLocks noChangeAspect="1"/>
          </p:cNvPicPr>
          <p:nvPr/>
        </p:nvPicPr>
        <p:blipFill>
          <a:blip r:embed="rId3"/>
          <a:stretch>
            <a:fillRect/>
          </a:stretch>
        </p:blipFill>
        <p:spPr>
          <a:xfrm>
            <a:off x="6492240" y="1463040"/>
            <a:ext cx="5212080" cy="2198066"/>
          </a:xfrm>
          <a:prstGeom prst="rect">
            <a:avLst/>
          </a:prstGeom>
        </p:spPr>
      </p:pic>
      <p:sp>
        <p:nvSpPr>
          <p:cNvPr id="10" name="TextBox 9"/>
          <p:cNvSpPr txBox="1"/>
          <p:nvPr/>
        </p:nvSpPr>
        <p:spPr>
          <a:xfrm>
            <a:off x="6492240" y="3639312"/>
            <a:ext cx="5212080" cy="457200"/>
          </a:xfrm>
          <a:prstGeom prst="rect">
            <a:avLst/>
          </a:prstGeom>
          <a:noFill/>
        </p:spPr>
        <p:txBody>
          <a:bodyPr wrap="square" anchor="t" lIns="45720" rIns="45720">
            <a:spAutoFit/>
          </a:bodyPr>
          <a:lstStyle/>
          <a:p>
            <a:pPr algn="ctr">
              <a:spcAft>
                <a:spcPts val="600"/>
              </a:spcAft>
            </a:pPr>
            <a:r>
              <a:rPr sz="1300" b="0">
                <a:solidFill>
                  <a:srgbClr val="595959"/>
                </a:solidFill>
                <a:latin typeface="Calibri"/>
              </a:rPr>
              <a:t>Word counts in the test split: long queries, short holdings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One test question, as the models see it</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About the dataset</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4 / 17</a:t>
            </a:r>
          </a:p>
        </p:txBody>
      </p:sp>
      <p:sp>
        <p:nvSpPr>
          <p:cNvPr id="7" name="Rectangle 6"/>
          <p:cNvSpPr/>
          <p:nvPr/>
        </p:nvSpPr>
        <p:spPr>
          <a:xfrm>
            <a:off x="548640" y="1417320"/>
            <a:ext cx="11064240" cy="1417320"/>
          </a:xfrm>
          <a:prstGeom prst="rect">
            <a:avLst/>
          </a:prstGeom>
          <a:solidFill>
            <a:srgbClr val="F4F6F8"/>
          </a:solidFill>
          <a:ln>
            <a:noFill/>
          </a:ln>
        </p:spPr>
        <p:txBody>
          <a:bodyPr rtlCol="0" anchor="ctr"/>
          <a:lstStyle/>
          <a:p>
            <a:pPr algn="ctr"/>
          </a:p>
        </p:txBody>
      </p:sp>
      <p:sp>
        <p:nvSpPr>
          <p:cNvPr id="8" name="Rectangle 7"/>
          <p:cNvSpPr/>
          <p:nvPr/>
        </p:nvSpPr>
        <p:spPr>
          <a:xfrm>
            <a:off x="548640" y="1417320"/>
            <a:ext cx="73152" cy="1417320"/>
          </a:xfrm>
          <a:prstGeom prst="rect">
            <a:avLst/>
          </a:prstGeom>
          <a:solidFill>
            <a:srgbClr val="1B365D"/>
          </a:solidFill>
          <a:ln>
            <a:noFill/>
          </a:ln>
        </p:spPr>
        <p:txBody>
          <a:bodyPr rtlCol="0" anchor="ctr"/>
          <a:lstStyle/>
          <a:p>
            <a:pPr algn="ctr"/>
          </a:p>
        </p:txBody>
      </p:sp>
      <p:sp>
        <p:nvSpPr>
          <p:cNvPr id="9" name="TextBox 8"/>
          <p:cNvSpPr txBox="1"/>
          <p:nvPr/>
        </p:nvSpPr>
        <p:spPr>
          <a:xfrm>
            <a:off x="777240" y="1463040"/>
            <a:ext cx="10698480" cy="1371600"/>
          </a:xfrm>
          <a:prstGeom prst="rect">
            <a:avLst/>
          </a:prstGeom>
          <a:noFill/>
        </p:spPr>
        <p:txBody>
          <a:bodyPr wrap="square" anchor="t" lIns="45720" rIns="45720">
            <a:spAutoFit/>
          </a:bodyPr>
          <a:lstStyle/>
          <a:p>
            <a:pPr algn="l">
              <a:spcAft>
                <a:spcPts val="600"/>
              </a:spcAft>
            </a:pPr>
            <a:r>
              <a:rPr sz="1600" b="1">
                <a:solidFill>
                  <a:srgbClr val="1B365D"/>
                </a:solidFill>
                <a:latin typeface="Calibri"/>
              </a:rPr>
              <a:t>Citing passage (end): </a:t>
            </a:r>
            <a:r>
              <a:rPr sz="1600" b="0">
                <a:solidFill>
                  <a:srgbClr val="222222"/>
                </a:solidFill>
                <a:latin typeface="Calibri"/>
              </a:rPr>
              <a:t>…have held that the anticipation of increased interference or potential hazards on the land remaining after a taking, which one court has labeled “stigma damages,” can be considered in assessing severance damages. See, e.g., Vector Pipeline, L.P., v. 68.55 Acres of Land, 157 F.Supp.2d 949, 957 (N.D.Ill.2001) (&lt;HOLDING&gt;)</a:t>
            </a:r>
          </a:p>
        </p:txBody>
      </p:sp>
      <p:sp>
        <p:nvSpPr>
          <p:cNvPr id="10" name="TextBox 9"/>
          <p:cNvSpPr txBox="1"/>
          <p:nvPr/>
        </p:nvSpPr>
        <p:spPr>
          <a:xfrm>
            <a:off x="685800" y="3017520"/>
            <a:ext cx="548640" cy="548640"/>
          </a:xfrm>
          <a:prstGeom prst="rect">
            <a:avLst/>
          </a:prstGeom>
          <a:noFill/>
        </p:spPr>
        <p:txBody>
          <a:bodyPr wrap="square" anchor="t" lIns="45720" rIns="45720">
            <a:spAutoFit/>
          </a:bodyPr>
          <a:lstStyle/>
          <a:p>
            <a:pPr algn="l">
              <a:spcAft>
                <a:spcPts val="600"/>
              </a:spcAft>
            </a:pPr>
            <a:r>
              <a:rPr sz="1800" b="1">
                <a:solidFill>
                  <a:srgbClr val="1B365D"/>
                </a:solidFill>
                <a:latin typeface="Calibri"/>
              </a:rPr>
              <a:t>0</a:t>
            </a:r>
          </a:p>
        </p:txBody>
      </p:sp>
      <p:sp>
        <p:nvSpPr>
          <p:cNvPr id="11" name="TextBox 10"/>
          <p:cNvSpPr txBox="1"/>
          <p:nvPr/>
        </p:nvSpPr>
        <p:spPr>
          <a:xfrm>
            <a:off x="1188720" y="3017520"/>
            <a:ext cx="9144000" cy="594360"/>
          </a:xfrm>
          <a:prstGeom prst="rect">
            <a:avLst/>
          </a:prstGeom>
          <a:noFill/>
        </p:spPr>
        <p:txBody>
          <a:bodyPr wrap="square" anchor="t" lIns="45720" rIns="45720">
            <a:spAutoFit/>
          </a:bodyPr>
          <a:lstStyle/>
          <a:p>
            <a:pPr algn="l">
              <a:spcAft>
                <a:spcPts val="600"/>
              </a:spcAft>
            </a:pPr>
            <a:r>
              <a:rPr sz="1500" b="0">
                <a:solidFill>
                  <a:srgbClr val="222222"/>
                </a:solidFill>
                <a:latin typeface="Calibri"/>
              </a:rPr>
              <a:t>holding that actual damages under respa included emotional damages</a:t>
            </a:r>
          </a:p>
        </p:txBody>
      </p:sp>
      <p:sp>
        <p:nvSpPr>
          <p:cNvPr id="12" name="TextBox 11"/>
          <p:cNvSpPr txBox="1"/>
          <p:nvPr/>
        </p:nvSpPr>
        <p:spPr>
          <a:xfrm>
            <a:off x="685800" y="3675887"/>
            <a:ext cx="548640" cy="548640"/>
          </a:xfrm>
          <a:prstGeom prst="rect">
            <a:avLst/>
          </a:prstGeom>
          <a:noFill/>
        </p:spPr>
        <p:txBody>
          <a:bodyPr wrap="square" anchor="t" lIns="45720" rIns="45720">
            <a:spAutoFit/>
          </a:bodyPr>
          <a:lstStyle/>
          <a:p>
            <a:pPr algn="l">
              <a:spcAft>
                <a:spcPts val="600"/>
              </a:spcAft>
            </a:pPr>
            <a:r>
              <a:rPr sz="1800" b="1">
                <a:solidFill>
                  <a:srgbClr val="1B365D"/>
                </a:solidFill>
                <a:latin typeface="Calibri"/>
              </a:rPr>
              <a:t>1</a:t>
            </a:r>
          </a:p>
        </p:txBody>
      </p:sp>
      <p:sp>
        <p:nvSpPr>
          <p:cNvPr id="13" name="TextBox 12"/>
          <p:cNvSpPr txBox="1"/>
          <p:nvPr/>
        </p:nvSpPr>
        <p:spPr>
          <a:xfrm>
            <a:off x="1188720" y="3675887"/>
            <a:ext cx="9144000" cy="594360"/>
          </a:xfrm>
          <a:prstGeom prst="rect">
            <a:avLst/>
          </a:prstGeom>
          <a:noFill/>
        </p:spPr>
        <p:txBody>
          <a:bodyPr wrap="square" anchor="t" lIns="45720" rIns="45720">
            <a:spAutoFit/>
          </a:bodyPr>
          <a:lstStyle/>
          <a:p>
            <a:pPr algn="l">
              <a:spcAft>
                <a:spcPts val="600"/>
              </a:spcAft>
            </a:pPr>
            <a:r>
              <a:rPr sz="1500" b="0">
                <a:solidFill>
                  <a:srgbClr val="222222"/>
                </a:solidFill>
                <a:latin typeface="Calibri"/>
              </a:rPr>
              <a:t>holding that increased fear of flooding was a matter that factfinder could properly consider in assessing severance damages</a:t>
            </a:r>
          </a:p>
        </p:txBody>
      </p:sp>
      <p:sp>
        <p:nvSpPr>
          <p:cNvPr id="14" name="TextBox 13"/>
          <p:cNvSpPr txBox="1"/>
          <p:nvPr/>
        </p:nvSpPr>
        <p:spPr>
          <a:xfrm>
            <a:off x="685800" y="4334255"/>
            <a:ext cx="548640" cy="548640"/>
          </a:xfrm>
          <a:prstGeom prst="rect">
            <a:avLst/>
          </a:prstGeom>
          <a:noFill/>
        </p:spPr>
        <p:txBody>
          <a:bodyPr wrap="square" anchor="t" lIns="45720" rIns="45720">
            <a:spAutoFit/>
          </a:bodyPr>
          <a:lstStyle/>
          <a:p>
            <a:pPr algn="l">
              <a:spcAft>
                <a:spcPts val="600"/>
              </a:spcAft>
            </a:pPr>
            <a:r>
              <a:rPr sz="1800" b="1">
                <a:solidFill>
                  <a:srgbClr val="1B365D"/>
                </a:solidFill>
                <a:latin typeface="Calibri"/>
              </a:rPr>
              <a:t>2</a:t>
            </a:r>
          </a:p>
        </p:txBody>
      </p:sp>
      <p:sp>
        <p:nvSpPr>
          <p:cNvPr id="15" name="TextBox 14"/>
          <p:cNvSpPr txBox="1"/>
          <p:nvPr/>
        </p:nvSpPr>
        <p:spPr>
          <a:xfrm>
            <a:off x="1188720" y="4334255"/>
            <a:ext cx="9144000" cy="594360"/>
          </a:xfrm>
          <a:prstGeom prst="rect">
            <a:avLst/>
          </a:prstGeom>
          <a:noFill/>
        </p:spPr>
        <p:txBody>
          <a:bodyPr wrap="square" anchor="t" lIns="45720" rIns="45720">
            <a:spAutoFit/>
          </a:bodyPr>
          <a:lstStyle/>
          <a:p>
            <a:pPr algn="l">
              <a:spcAft>
                <a:spcPts val="600"/>
              </a:spcAft>
            </a:pPr>
            <a:r>
              <a:rPr sz="1500" b="0">
                <a:solidFill>
                  <a:srgbClr val="222222"/>
                </a:solidFill>
                <a:latin typeface="Calibri"/>
              </a:rPr>
              <a:t>holding that local buyers fear of possible knapweed infestation legitimately affected calculation of severance damages</a:t>
            </a:r>
          </a:p>
        </p:txBody>
      </p:sp>
      <p:sp>
        <p:nvSpPr>
          <p:cNvPr id="16" name="TextBox 15"/>
          <p:cNvSpPr txBox="1"/>
          <p:nvPr/>
        </p:nvSpPr>
        <p:spPr>
          <a:xfrm>
            <a:off x="685800" y="4992623"/>
            <a:ext cx="548640" cy="548640"/>
          </a:xfrm>
          <a:prstGeom prst="rect">
            <a:avLst/>
          </a:prstGeom>
          <a:noFill/>
        </p:spPr>
        <p:txBody>
          <a:bodyPr wrap="square" anchor="t" lIns="45720" rIns="45720">
            <a:spAutoFit/>
          </a:bodyPr>
          <a:lstStyle/>
          <a:p>
            <a:pPr algn="l">
              <a:spcAft>
                <a:spcPts val="600"/>
              </a:spcAft>
            </a:pPr>
            <a:r>
              <a:rPr sz="1800" b="1">
                <a:solidFill>
                  <a:srgbClr val="1B365D"/>
                </a:solidFill>
                <a:latin typeface="Calibri"/>
              </a:rPr>
              <a:t>3</a:t>
            </a:r>
          </a:p>
        </p:txBody>
      </p:sp>
      <p:sp>
        <p:nvSpPr>
          <p:cNvPr id="17" name="TextBox 16"/>
          <p:cNvSpPr txBox="1"/>
          <p:nvPr/>
        </p:nvSpPr>
        <p:spPr>
          <a:xfrm>
            <a:off x="1188720" y="4992623"/>
            <a:ext cx="9144000" cy="594360"/>
          </a:xfrm>
          <a:prstGeom prst="rect">
            <a:avLst/>
          </a:prstGeom>
          <a:noFill/>
        </p:spPr>
        <p:txBody>
          <a:bodyPr wrap="square" anchor="t" lIns="45720" rIns="45720">
            <a:spAutoFit/>
          </a:bodyPr>
          <a:lstStyle/>
          <a:p>
            <a:pPr algn="l">
              <a:spcAft>
                <a:spcPts val="600"/>
              </a:spcAft>
            </a:pPr>
            <a:r>
              <a:rPr sz="1500" b="0">
                <a:solidFill>
                  <a:srgbClr val="222222"/>
                </a:solidFill>
                <a:latin typeface="Calibri"/>
              </a:rPr>
              <a:t>recognizing concept of stigma damages as they apply to property which is in fact contaminated</a:t>
            </a:r>
          </a:p>
        </p:txBody>
      </p:sp>
      <p:sp>
        <p:nvSpPr>
          <p:cNvPr id="18" name="Rectangle 17"/>
          <p:cNvSpPr/>
          <p:nvPr/>
        </p:nvSpPr>
        <p:spPr>
          <a:xfrm>
            <a:off x="548640" y="5623559"/>
            <a:ext cx="11064240" cy="621792"/>
          </a:xfrm>
          <a:prstGeom prst="rect">
            <a:avLst/>
          </a:prstGeom>
          <a:solidFill>
            <a:srgbClr val="E6F2F2"/>
          </a:solidFill>
          <a:ln>
            <a:noFill/>
          </a:ln>
        </p:spPr>
        <p:txBody>
          <a:bodyPr rtlCol="0" anchor="ctr"/>
          <a:lstStyle/>
          <a:p>
            <a:pPr algn="ctr"/>
          </a:p>
        </p:txBody>
      </p:sp>
      <p:sp>
        <p:nvSpPr>
          <p:cNvPr id="19" name="TextBox 18"/>
          <p:cNvSpPr txBox="1"/>
          <p:nvPr/>
        </p:nvSpPr>
        <p:spPr>
          <a:xfrm>
            <a:off x="685800" y="5650991"/>
            <a:ext cx="548640" cy="548640"/>
          </a:xfrm>
          <a:prstGeom prst="rect">
            <a:avLst/>
          </a:prstGeom>
          <a:noFill/>
        </p:spPr>
        <p:txBody>
          <a:bodyPr wrap="square" anchor="t" lIns="45720" rIns="45720">
            <a:spAutoFit/>
          </a:bodyPr>
          <a:lstStyle/>
          <a:p>
            <a:pPr algn="l">
              <a:spcAft>
                <a:spcPts val="600"/>
              </a:spcAft>
            </a:pPr>
            <a:r>
              <a:rPr sz="1800" b="1">
                <a:solidFill>
                  <a:srgbClr val="008080"/>
                </a:solidFill>
                <a:latin typeface="Calibri"/>
              </a:rPr>
              <a:t>4</a:t>
            </a:r>
          </a:p>
        </p:txBody>
      </p:sp>
      <p:sp>
        <p:nvSpPr>
          <p:cNvPr id="20" name="TextBox 19"/>
          <p:cNvSpPr txBox="1"/>
          <p:nvPr/>
        </p:nvSpPr>
        <p:spPr>
          <a:xfrm>
            <a:off x="1188720" y="5650991"/>
            <a:ext cx="9144000" cy="594360"/>
          </a:xfrm>
          <a:prstGeom prst="rect">
            <a:avLst/>
          </a:prstGeom>
          <a:noFill/>
        </p:spPr>
        <p:txBody>
          <a:bodyPr wrap="square" anchor="t" lIns="45720" rIns="45720">
            <a:spAutoFit/>
          </a:bodyPr>
          <a:lstStyle/>
          <a:p>
            <a:pPr algn="l">
              <a:spcAft>
                <a:spcPts val="600"/>
              </a:spcAft>
            </a:pPr>
            <a:r>
              <a:rPr sz="1500" b="1">
                <a:solidFill>
                  <a:srgbClr val="222222"/>
                </a:solidFill>
                <a:latin typeface="Calibri"/>
              </a:rPr>
              <a:t>holding that stigma damages were properly included in calculation of severance damages where proximity of gas pipeline could trigger fears about possible mishaps</a:t>
            </a:r>
          </a:p>
        </p:txBody>
      </p:sp>
      <p:sp>
        <p:nvSpPr>
          <p:cNvPr id="21" name="TextBox 20"/>
          <p:cNvSpPr txBox="1"/>
          <p:nvPr/>
        </p:nvSpPr>
        <p:spPr>
          <a:xfrm>
            <a:off x="10332720" y="5650991"/>
            <a:ext cx="1188720" cy="548640"/>
          </a:xfrm>
          <a:prstGeom prst="rect">
            <a:avLst/>
          </a:prstGeom>
          <a:noFill/>
        </p:spPr>
        <p:txBody>
          <a:bodyPr wrap="square" anchor="t" lIns="45720" rIns="45720">
            <a:spAutoFit/>
          </a:bodyPr>
          <a:lstStyle/>
          <a:p>
            <a:pPr algn="r">
              <a:spcAft>
                <a:spcPts val="600"/>
              </a:spcAft>
            </a:pPr>
            <a:r>
              <a:rPr sz="1500" b="1">
                <a:solidFill>
                  <a:srgbClr val="008080"/>
                </a:solidFill>
                <a:latin typeface="Calibri"/>
              </a:rPr>
              <a:t>correct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Turning a multiple-choice dataset into a search task</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Problem setup</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5 / 17</a:t>
            </a:r>
          </a:p>
        </p:txBody>
      </p:sp>
      <p:sp>
        <p:nvSpPr>
          <p:cNvPr id="7" name="Rectangle 6"/>
          <p:cNvSpPr/>
          <p:nvPr/>
        </p:nvSpPr>
        <p:spPr>
          <a:xfrm>
            <a:off x="548640" y="1463040"/>
            <a:ext cx="5349240" cy="3291840"/>
          </a:xfrm>
          <a:prstGeom prst="rect">
            <a:avLst/>
          </a:prstGeom>
          <a:solidFill>
            <a:srgbClr val="F4F6F8"/>
          </a:solidFill>
          <a:ln>
            <a:noFill/>
          </a:ln>
        </p:spPr>
        <p:txBody>
          <a:bodyPr rtlCol="0" anchor="ctr"/>
          <a:lstStyle/>
          <a:p>
            <a:pPr algn="ctr"/>
          </a:p>
        </p:txBody>
      </p:sp>
      <p:sp>
        <p:nvSpPr>
          <p:cNvPr id="8" name="Rectangle 7"/>
          <p:cNvSpPr/>
          <p:nvPr/>
        </p:nvSpPr>
        <p:spPr>
          <a:xfrm>
            <a:off x="548640" y="1463040"/>
            <a:ext cx="5349240" cy="73152"/>
          </a:xfrm>
          <a:prstGeom prst="rect">
            <a:avLst/>
          </a:prstGeom>
          <a:solidFill>
            <a:srgbClr val="1B365D"/>
          </a:solidFill>
          <a:ln>
            <a:noFill/>
          </a:ln>
        </p:spPr>
        <p:txBody>
          <a:bodyPr rtlCol="0" anchor="ctr"/>
          <a:lstStyle/>
          <a:p>
            <a:pPr algn="ctr"/>
          </a:p>
        </p:txBody>
      </p:sp>
      <p:sp>
        <p:nvSpPr>
          <p:cNvPr id="9" name="TextBox 8"/>
          <p:cNvSpPr txBox="1"/>
          <p:nvPr/>
        </p:nvSpPr>
        <p:spPr>
          <a:xfrm>
            <a:off x="822959" y="1645920"/>
            <a:ext cx="4846320" cy="548640"/>
          </a:xfrm>
          <a:prstGeom prst="rect">
            <a:avLst/>
          </a:prstGeom>
          <a:noFill/>
        </p:spPr>
        <p:txBody>
          <a:bodyPr wrap="square" anchor="t" lIns="45720" rIns="45720">
            <a:spAutoFit/>
          </a:bodyPr>
          <a:lstStyle/>
          <a:p>
            <a:pPr algn="l">
              <a:spcAft>
                <a:spcPts val="600"/>
              </a:spcAft>
            </a:pPr>
            <a:r>
              <a:rPr sz="2200" b="1">
                <a:solidFill>
                  <a:srgbClr val="1B365D"/>
                </a:solidFill>
                <a:latin typeface="Calibri"/>
              </a:rPr>
              <a:t>Full-pool setting (main)</a:t>
            </a:r>
          </a:p>
        </p:txBody>
      </p:sp>
      <p:sp>
        <p:nvSpPr>
          <p:cNvPr id="10" name="TextBox 9"/>
          <p:cNvSpPr txBox="1"/>
          <p:nvPr/>
        </p:nvSpPr>
        <p:spPr>
          <a:xfrm>
            <a:off x="822959" y="2286000"/>
            <a:ext cx="4846320" cy="2377440"/>
          </a:xfrm>
          <a:prstGeom prst="rect">
            <a:avLst/>
          </a:prstGeom>
          <a:noFill/>
        </p:spPr>
        <p:txBody>
          <a:bodyPr wrap="square" anchor="t" lIns="45720" rIns="45720">
            <a:spAutoFit/>
          </a:bodyPr>
          <a:lstStyle/>
          <a:p>
            <a:pPr algn="l">
              <a:spcAft>
                <a:spcPts val="1000"/>
              </a:spcAft>
            </a:pPr>
            <a:r>
              <a:rPr sz="1700" b="0">
                <a:solidFill>
                  <a:srgbClr val="222222"/>
                </a:solidFill>
                <a:latin typeface="Calibri"/>
              </a:rPr>
              <a:t>Documents: all 13,297 unique holdings of the test split</a:t>
            </a:r>
          </a:p>
          <a:p>
            <a:pPr algn="l">
              <a:spcAft>
                <a:spcPts val="1000"/>
              </a:spcAft>
            </a:pPr>
            <a:r>
              <a:rPr sz="1700" b="0">
                <a:solidFill>
                  <a:srgbClr val="222222"/>
                </a:solidFill>
                <a:latin typeface="Calibri"/>
              </a:rPr>
              <a:t>Queries: 3,600 citing passages</a:t>
            </a:r>
          </a:p>
          <a:p>
            <a:pPr algn="l">
              <a:spcAft>
                <a:spcPts val="1000"/>
              </a:spcAft>
            </a:pPr>
            <a:r>
              <a:rPr sz="1700" b="0">
                <a:solidFill>
                  <a:srgbClr val="222222"/>
                </a:solidFill>
                <a:latin typeface="Calibri"/>
              </a:rPr>
              <a:t>Exactly 1 relevant holding per query</a:t>
            </a:r>
          </a:p>
          <a:p>
            <a:pPr algn="l">
              <a:spcAft>
                <a:spcPts val="1000"/>
              </a:spcAft>
            </a:pPr>
            <a:r>
              <a:rPr sz="1700" b="0">
                <a:solidFill>
                  <a:srgbClr val="222222"/>
                </a:solidFill>
                <a:latin typeface="Calibri"/>
              </a:rPr>
              <a:t>Metrics: Precision@10, Recall@k, MAP, nDCG@10</a:t>
            </a:r>
          </a:p>
        </p:txBody>
      </p:sp>
      <p:sp>
        <p:nvSpPr>
          <p:cNvPr id="11" name="Rectangle 10"/>
          <p:cNvSpPr/>
          <p:nvPr/>
        </p:nvSpPr>
        <p:spPr>
          <a:xfrm>
            <a:off x="6263640" y="1463040"/>
            <a:ext cx="5349240" cy="3291840"/>
          </a:xfrm>
          <a:prstGeom prst="rect">
            <a:avLst/>
          </a:prstGeom>
          <a:solidFill>
            <a:srgbClr val="F4F6F8"/>
          </a:solidFill>
          <a:ln>
            <a:noFill/>
          </a:ln>
        </p:spPr>
        <p:txBody>
          <a:bodyPr rtlCol="0" anchor="ctr"/>
          <a:lstStyle/>
          <a:p>
            <a:pPr algn="ctr"/>
          </a:p>
        </p:txBody>
      </p:sp>
      <p:sp>
        <p:nvSpPr>
          <p:cNvPr id="12" name="Rectangle 11"/>
          <p:cNvSpPr/>
          <p:nvPr/>
        </p:nvSpPr>
        <p:spPr>
          <a:xfrm>
            <a:off x="6263640" y="1463040"/>
            <a:ext cx="5349240" cy="73152"/>
          </a:xfrm>
          <a:prstGeom prst="rect">
            <a:avLst/>
          </a:prstGeom>
          <a:solidFill>
            <a:srgbClr val="008080"/>
          </a:solidFill>
          <a:ln>
            <a:noFill/>
          </a:ln>
        </p:spPr>
        <p:txBody>
          <a:bodyPr rtlCol="0" anchor="ctr"/>
          <a:lstStyle/>
          <a:p>
            <a:pPr algn="ctr"/>
          </a:p>
        </p:txBody>
      </p:sp>
      <p:sp>
        <p:nvSpPr>
          <p:cNvPr id="13" name="TextBox 12"/>
          <p:cNvSpPr txBox="1"/>
          <p:nvPr/>
        </p:nvSpPr>
        <p:spPr>
          <a:xfrm>
            <a:off x="6537959" y="1645920"/>
            <a:ext cx="4846320" cy="548640"/>
          </a:xfrm>
          <a:prstGeom prst="rect">
            <a:avLst/>
          </a:prstGeom>
          <a:noFill/>
        </p:spPr>
        <p:txBody>
          <a:bodyPr wrap="square" anchor="t" lIns="45720" rIns="45720">
            <a:spAutoFit/>
          </a:bodyPr>
          <a:lstStyle/>
          <a:p>
            <a:pPr algn="l">
              <a:spcAft>
                <a:spcPts val="600"/>
              </a:spcAft>
            </a:pPr>
            <a:r>
              <a:rPr sz="2200" b="1">
                <a:solidFill>
                  <a:srgbClr val="008080"/>
                </a:solidFill>
                <a:latin typeface="Calibri"/>
              </a:rPr>
              <a:t>5-choice setting (original task)</a:t>
            </a:r>
          </a:p>
        </p:txBody>
      </p:sp>
      <p:sp>
        <p:nvSpPr>
          <p:cNvPr id="14" name="TextBox 13"/>
          <p:cNvSpPr txBox="1"/>
          <p:nvPr/>
        </p:nvSpPr>
        <p:spPr>
          <a:xfrm>
            <a:off x="6537959" y="2286000"/>
            <a:ext cx="4846320" cy="2377440"/>
          </a:xfrm>
          <a:prstGeom prst="rect">
            <a:avLst/>
          </a:prstGeom>
          <a:noFill/>
        </p:spPr>
        <p:txBody>
          <a:bodyPr wrap="square" anchor="t" lIns="45720" rIns="45720">
            <a:spAutoFit/>
          </a:bodyPr>
          <a:lstStyle/>
          <a:p>
            <a:pPr algn="l">
              <a:spcAft>
                <a:spcPts val="1000"/>
              </a:spcAft>
            </a:pPr>
            <a:r>
              <a:rPr sz="1700" b="0">
                <a:solidFill>
                  <a:srgbClr val="222222"/>
                </a:solidFill>
                <a:latin typeface="Calibri"/>
              </a:rPr>
              <a:t>Each query ranks only its own 5 options</a:t>
            </a:r>
          </a:p>
          <a:p>
            <a:pPr algn="l">
              <a:spcAft>
                <a:spcPts val="1000"/>
              </a:spcAft>
            </a:pPr>
            <a:r>
              <a:rPr sz="1700" b="0">
                <a:solidFill>
                  <a:srgbClr val="222222"/>
                </a:solidFill>
                <a:latin typeface="Calibri"/>
              </a:rPr>
              <a:t>Accuracy = correct option ranked first</a:t>
            </a:r>
          </a:p>
          <a:p>
            <a:pPr algn="l">
              <a:spcAft>
                <a:spcPts val="1000"/>
              </a:spcAft>
            </a:pPr>
            <a:r>
              <a:rPr sz="1700" b="0">
                <a:solidFill>
                  <a:srgbClr val="222222"/>
                </a:solidFill>
                <a:latin typeface="Calibri"/>
              </a:rPr>
              <a:t>Random guessing = 0.20</a:t>
            </a:r>
          </a:p>
          <a:p>
            <a:pPr algn="l">
              <a:spcAft>
                <a:spcPts val="1000"/>
              </a:spcAft>
            </a:pPr>
            <a:r>
              <a:rPr sz="1700" b="0">
                <a:solidFill>
                  <a:srgbClr val="222222"/>
                </a:solidFill>
                <a:latin typeface="Calibri"/>
              </a:rPr>
              <a:t>Hard: options were chosen to look alike</a:t>
            </a:r>
          </a:p>
        </p:txBody>
      </p:sp>
      <p:sp>
        <p:nvSpPr>
          <p:cNvPr id="15" name="TextBox 14"/>
          <p:cNvSpPr txBox="1"/>
          <p:nvPr/>
        </p:nvSpPr>
        <p:spPr>
          <a:xfrm>
            <a:off x="548640" y="5029200"/>
            <a:ext cx="11064240" cy="1097280"/>
          </a:xfrm>
          <a:prstGeom prst="rect">
            <a:avLst/>
          </a:prstGeom>
          <a:noFill/>
        </p:spPr>
        <p:txBody>
          <a:bodyPr wrap="square" anchor="t" lIns="45720" rIns="45720">
            <a:spAutoFit/>
          </a:bodyPr>
          <a:lstStyle/>
          <a:p>
            <a:pPr algn="l">
              <a:spcAft>
                <a:spcPts val="600"/>
              </a:spcAft>
            </a:pPr>
            <a:r>
              <a:rPr sz="1700" b="1">
                <a:solidFill>
                  <a:srgbClr val="1B365D"/>
                </a:solidFill>
                <a:latin typeface="Calibri"/>
              </a:rPr>
              <a:t>Protocol: </a:t>
            </a:r>
            <a:r>
              <a:rPr sz="1700" b="0">
                <a:solidFill>
                  <a:srgbClr val="222222"/>
                </a:solidFill>
                <a:latin typeface="Calibri"/>
              </a:rPr>
              <a:t>every parameter was tuned on the 3,900 validation queries; the test split was used once, at the end. The train split was used only for the fine-tuning extension.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System pipeline</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Methodology</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6 / 17</a:t>
            </a:r>
          </a:p>
        </p:txBody>
      </p:sp>
      <p:pic>
        <p:nvPicPr>
          <p:cNvPr id="7" name="Picture 6" descr="pipeline.png"/>
          <p:cNvPicPr>
            <a:picLocks noChangeAspect="1"/>
          </p:cNvPicPr>
          <p:nvPr/>
        </p:nvPicPr>
        <p:blipFill>
          <a:blip r:embed="rId3"/>
          <a:stretch>
            <a:fillRect/>
          </a:stretch>
        </p:blipFill>
        <p:spPr>
          <a:xfrm>
            <a:off x="822960" y="1417320"/>
            <a:ext cx="10515600" cy="42393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Preprocessing and the inverted index</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Methodology</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7 / 17</a:t>
            </a:r>
          </a:p>
        </p:txBody>
      </p:sp>
      <p:sp>
        <p:nvSpPr>
          <p:cNvPr id="7" name="Rectangle 6"/>
          <p:cNvSpPr/>
          <p:nvPr/>
        </p:nvSpPr>
        <p:spPr>
          <a:xfrm>
            <a:off x="548640" y="1508760"/>
            <a:ext cx="502920" cy="502920"/>
          </a:xfrm>
          <a:prstGeom prst="rect">
            <a:avLst/>
          </a:prstGeom>
          <a:solidFill>
            <a:srgbClr val="1B365D"/>
          </a:solidFill>
          <a:ln>
            <a:noFill/>
          </a:ln>
        </p:spPr>
        <p:txBody>
          <a:bodyPr rtlCol="0" anchor="ctr"/>
          <a:lstStyle/>
          <a:p>
            <a:pPr algn="ctr"/>
          </a:p>
        </p:txBody>
      </p:sp>
      <p:sp>
        <p:nvSpPr>
          <p:cNvPr id="8" name="TextBox 7"/>
          <p:cNvSpPr txBox="1"/>
          <p:nvPr/>
        </p:nvSpPr>
        <p:spPr>
          <a:xfrm>
            <a:off x="548640" y="1508760"/>
            <a:ext cx="502920" cy="502920"/>
          </a:xfrm>
          <a:prstGeom prst="rect">
            <a:avLst/>
          </a:prstGeom>
          <a:noFill/>
        </p:spPr>
        <p:txBody>
          <a:bodyPr wrap="square" anchor="ctr" lIns="45720" rIns="45720">
            <a:spAutoFit/>
          </a:bodyPr>
          <a:lstStyle/>
          <a:p>
            <a:pPr algn="ctr">
              <a:spcAft>
                <a:spcPts val="600"/>
              </a:spcAft>
            </a:pPr>
            <a:r>
              <a:rPr sz="1800" b="1">
                <a:solidFill>
                  <a:srgbClr val="FFFFFF"/>
                </a:solidFill>
                <a:latin typeface="Calibri"/>
              </a:rPr>
              <a:t>1</a:t>
            </a:r>
          </a:p>
        </p:txBody>
      </p:sp>
      <p:sp>
        <p:nvSpPr>
          <p:cNvPr id="9" name="TextBox 8"/>
          <p:cNvSpPr txBox="1"/>
          <p:nvPr/>
        </p:nvSpPr>
        <p:spPr>
          <a:xfrm>
            <a:off x="1188720" y="1508760"/>
            <a:ext cx="4937760" cy="548640"/>
          </a:xfrm>
          <a:prstGeom prst="rect">
            <a:avLst/>
          </a:prstGeom>
          <a:noFill/>
        </p:spPr>
        <p:txBody>
          <a:bodyPr wrap="square" anchor="ctr" lIns="45720" rIns="45720">
            <a:spAutoFit/>
          </a:bodyPr>
          <a:lstStyle/>
          <a:p>
            <a:pPr algn="l">
              <a:spcAft>
                <a:spcPts val="600"/>
              </a:spcAft>
            </a:pPr>
            <a:r>
              <a:rPr sz="1800" b="0">
                <a:solidFill>
                  <a:srgbClr val="222222"/>
                </a:solidFill>
                <a:latin typeface="Calibri"/>
              </a:rPr>
              <a:t>Lowercase, remove &lt;HOLDING&gt;</a:t>
            </a:r>
          </a:p>
        </p:txBody>
      </p:sp>
      <p:sp>
        <p:nvSpPr>
          <p:cNvPr id="10" name="Rectangle 9"/>
          <p:cNvSpPr/>
          <p:nvPr/>
        </p:nvSpPr>
        <p:spPr>
          <a:xfrm>
            <a:off x="548640" y="2194560"/>
            <a:ext cx="502920" cy="502920"/>
          </a:xfrm>
          <a:prstGeom prst="rect">
            <a:avLst/>
          </a:prstGeom>
          <a:solidFill>
            <a:srgbClr val="1B365D"/>
          </a:solidFill>
          <a:ln>
            <a:noFill/>
          </a:ln>
        </p:spPr>
        <p:txBody>
          <a:bodyPr rtlCol="0" anchor="ctr"/>
          <a:lstStyle/>
          <a:p>
            <a:pPr algn="ctr"/>
          </a:p>
        </p:txBody>
      </p:sp>
      <p:sp>
        <p:nvSpPr>
          <p:cNvPr id="11" name="TextBox 10"/>
          <p:cNvSpPr txBox="1"/>
          <p:nvPr/>
        </p:nvSpPr>
        <p:spPr>
          <a:xfrm>
            <a:off x="548640" y="2194560"/>
            <a:ext cx="502920" cy="502920"/>
          </a:xfrm>
          <a:prstGeom prst="rect">
            <a:avLst/>
          </a:prstGeom>
          <a:noFill/>
        </p:spPr>
        <p:txBody>
          <a:bodyPr wrap="square" anchor="ctr" lIns="45720" rIns="45720">
            <a:spAutoFit/>
          </a:bodyPr>
          <a:lstStyle/>
          <a:p>
            <a:pPr algn="ctr">
              <a:spcAft>
                <a:spcPts val="600"/>
              </a:spcAft>
            </a:pPr>
            <a:r>
              <a:rPr sz="1800" b="1">
                <a:solidFill>
                  <a:srgbClr val="FFFFFF"/>
                </a:solidFill>
                <a:latin typeface="Calibri"/>
              </a:rPr>
              <a:t>2</a:t>
            </a:r>
          </a:p>
        </p:txBody>
      </p:sp>
      <p:sp>
        <p:nvSpPr>
          <p:cNvPr id="12" name="TextBox 11"/>
          <p:cNvSpPr txBox="1"/>
          <p:nvPr/>
        </p:nvSpPr>
        <p:spPr>
          <a:xfrm>
            <a:off x="1188720" y="2194560"/>
            <a:ext cx="4937760" cy="548640"/>
          </a:xfrm>
          <a:prstGeom prst="rect">
            <a:avLst/>
          </a:prstGeom>
          <a:noFill/>
        </p:spPr>
        <p:txBody>
          <a:bodyPr wrap="square" anchor="ctr" lIns="45720" rIns="45720">
            <a:spAutoFit/>
          </a:bodyPr>
          <a:lstStyle/>
          <a:p>
            <a:pPr algn="l">
              <a:spcAft>
                <a:spcPts val="600"/>
              </a:spcAft>
            </a:pPr>
            <a:r>
              <a:rPr sz="1800" b="0">
                <a:solidFill>
                  <a:srgbClr val="222222"/>
                </a:solidFill>
                <a:latin typeface="Calibri"/>
              </a:rPr>
              <a:t>Tokenise; drop tokens with digits (citations)</a:t>
            </a:r>
          </a:p>
        </p:txBody>
      </p:sp>
      <p:sp>
        <p:nvSpPr>
          <p:cNvPr id="13" name="Rectangle 12"/>
          <p:cNvSpPr/>
          <p:nvPr/>
        </p:nvSpPr>
        <p:spPr>
          <a:xfrm>
            <a:off x="548640" y="2880360"/>
            <a:ext cx="502920" cy="502920"/>
          </a:xfrm>
          <a:prstGeom prst="rect">
            <a:avLst/>
          </a:prstGeom>
          <a:solidFill>
            <a:srgbClr val="1B365D"/>
          </a:solidFill>
          <a:ln>
            <a:noFill/>
          </a:ln>
        </p:spPr>
        <p:txBody>
          <a:bodyPr rtlCol="0" anchor="ctr"/>
          <a:lstStyle/>
          <a:p>
            <a:pPr algn="ctr"/>
          </a:p>
        </p:txBody>
      </p:sp>
      <p:sp>
        <p:nvSpPr>
          <p:cNvPr id="14" name="TextBox 13"/>
          <p:cNvSpPr txBox="1"/>
          <p:nvPr/>
        </p:nvSpPr>
        <p:spPr>
          <a:xfrm>
            <a:off x="548640" y="2880360"/>
            <a:ext cx="502920" cy="502920"/>
          </a:xfrm>
          <a:prstGeom prst="rect">
            <a:avLst/>
          </a:prstGeom>
          <a:noFill/>
        </p:spPr>
        <p:txBody>
          <a:bodyPr wrap="square" anchor="ctr" lIns="45720" rIns="45720">
            <a:spAutoFit/>
          </a:bodyPr>
          <a:lstStyle/>
          <a:p>
            <a:pPr algn="ctr">
              <a:spcAft>
                <a:spcPts val="600"/>
              </a:spcAft>
            </a:pPr>
            <a:r>
              <a:rPr sz="1800" b="1">
                <a:solidFill>
                  <a:srgbClr val="FFFFFF"/>
                </a:solidFill>
                <a:latin typeface="Calibri"/>
              </a:rPr>
              <a:t>3</a:t>
            </a:r>
          </a:p>
        </p:txBody>
      </p:sp>
      <p:sp>
        <p:nvSpPr>
          <p:cNvPr id="15" name="TextBox 14"/>
          <p:cNvSpPr txBox="1"/>
          <p:nvPr/>
        </p:nvSpPr>
        <p:spPr>
          <a:xfrm>
            <a:off x="1188720" y="2880360"/>
            <a:ext cx="4937760" cy="548640"/>
          </a:xfrm>
          <a:prstGeom prst="rect">
            <a:avLst/>
          </a:prstGeom>
          <a:noFill/>
        </p:spPr>
        <p:txBody>
          <a:bodyPr wrap="square" anchor="ctr" lIns="45720" rIns="45720">
            <a:spAutoFit/>
          </a:bodyPr>
          <a:lstStyle/>
          <a:p>
            <a:pPr algn="l">
              <a:spcAft>
                <a:spcPts val="600"/>
              </a:spcAft>
            </a:pPr>
            <a:r>
              <a:rPr sz="1800" b="0">
                <a:solidFill>
                  <a:srgbClr val="222222"/>
                </a:solidFill>
                <a:latin typeface="Calibri"/>
              </a:rPr>
              <a:t>Remove stop words + legal fillers (holding, v, see, id…)</a:t>
            </a:r>
          </a:p>
        </p:txBody>
      </p:sp>
      <p:sp>
        <p:nvSpPr>
          <p:cNvPr id="16" name="Rectangle 15"/>
          <p:cNvSpPr/>
          <p:nvPr/>
        </p:nvSpPr>
        <p:spPr>
          <a:xfrm>
            <a:off x="548640" y="3566160"/>
            <a:ext cx="502920" cy="502920"/>
          </a:xfrm>
          <a:prstGeom prst="rect">
            <a:avLst/>
          </a:prstGeom>
          <a:solidFill>
            <a:srgbClr val="1B365D"/>
          </a:solidFill>
          <a:ln>
            <a:noFill/>
          </a:ln>
        </p:spPr>
        <p:txBody>
          <a:bodyPr rtlCol="0" anchor="ctr"/>
          <a:lstStyle/>
          <a:p>
            <a:pPr algn="ctr"/>
          </a:p>
        </p:txBody>
      </p:sp>
      <p:sp>
        <p:nvSpPr>
          <p:cNvPr id="17" name="TextBox 16"/>
          <p:cNvSpPr txBox="1"/>
          <p:nvPr/>
        </p:nvSpPr>
        <p:spPr>
          <a:xfrm>
            <a:off x="548640" y="3566160"/>
            <a:ext cx="502920" cy="502920"/>
          </a:xfrm>
          <a:prstGeom prst="rect">
            <a:avLst/>
          </a:prstGeom>
          <a:noFill/>
        </p:spPr>
        <p:txBody>
          <a:bodyPr wrap="square" anchor="ctr" lIns="45720" rIns="45720">
            <a:spAutoFit/>
          </a:bodyPr>
          <a:lstStyle/>
          <a:p>
            <a:pPr algn="ctr">
              <a:spcAft>
                <a:spcPts val="600"/>
              </a:spcAft>
            </a:pPr>
            <a:r>
              <a:rPr sz="1800" b="1">
                <a:solidFill>
                  <a:srgbClr val="FFFFFF"/>
                </a:solidFill>
                <a:latin typeface="Calibri"/>
              </a:rPr>
              <a:t>4</a:t>
            </a:r>
          </a:p>
        </p:txBody>
      </p:sp>
      <p:sp>
        <p:nvSpPr>
          <p:cNvPr id="18" name="TextBox 17"/>
          <p:cNvSpPr txBox="1"/>
          <p:nvPr/>
        </p:nvSpPr>
        <p:spPr>
          <a:xfrm>
            <a:off x="1188720" y="3566160"/>
            <a:ext cx="4937760" cy="548640"/>
          </a:xfrm>
          <a:prstGeom prst="rect">
            <a:avLst/>
          </a:prstGeom>
          <a:noFill/>
        </p:spPr>
        <p:txBody>
          <a:bodyPr wrap="square" anchor="ctr" lIns="45720" rIns="45720">
            <a:spAutoFit/>
          </a:bodyPr>
          <a:lstStyle/>
          <a:p>
            <a:pPr algn="l">
              <a:spcAft>
                <a:spcPts val="600"/>
              </a:spcAft>
            </a:pPr>
            <a:r>
              <a:rPr sz="1800" b="0">
                <a:solidFill>
                  <a:srgbClr val="222222"/>
                </a:solidFill>
                <a:latin typeface="Calibri"/>
              </a:rPr>
              <a:t>Porter stemming</a:t>
            </a:r>
          </a:p>
        </p:txBody>
      </p:sp>
      <p:sp>
        <p:nvSpPr>
          <p:cNvPr id="19" name="Rectangle 18"/>
          <p:cNvSpPr/>
          <p:nvPr/>
        </p:nvSpPr>
        <p:spPr>
          <a:xfrm>
            <a:off x="548640" y="4434840"/>
            <a:ext cx="5577840" cy="1325880"/>
          </a:xfrm>
          <a:prstGeom prst="rect">
            <a:avLst/>
          </a:prstGeom>
          <a:solidFill>
            <a:srgbClr val="F4F6F8"/>
          </a:solidFill>
          <a:ln>
            <a:noFill/>
          </a:ln>
        </p:spPr>
        <p:txBody>
          <a:bodyPr rtlCol="0" anchor="ctr"/>
          <a:lstStyle/>
          <a:p>
            <a:pPr algn="ctr"/>
          </a:p>
        </p:txBody>
      </p:sp>
      <p:sp>
        <p:nvSpPr>
          <p:cNvPr id="20" name="TextBox 19"/>
          <p:cNvSpPr txBox="1"/>
          <p:nvPr/>
        </p:nvSpPr>
        <p:spPr>
          <a:xfrm>
            <a:off x="731520" y="4526280"/>
            <a:ext cx="5303520" cy="1554480"/>
          </a:xfrm>
          <a:prstGeom prst="rect">
            <a:avLst/>
          </a:prstGeom>
          <a:noFill/>
        </p:spPr>
        <p:txBody>
          <a:bodyPr wrap="square" anchor="t" lIns="45720" rIns="45720">
            <a:spAutoFit/>
          </a:bodyPr>
          <a:lstStyle/>
          <a:p>
            <a:pPr algn="l">
              <a:spcAft>
                <a:spcPts val="800"/>
              </a:spcAft>
            </a:pPr>
            <a:r>
              <a:rPr sz="1500" b="1">
                <a:solidFill>
                  <a:srgbClr val="1B365D"/>
                </a:solidFill>
                <a:latin typeface="Calibri"/>
              </a:rPr>
              <a:t>Holding: </a:t>
            </a:r>
            <a:r>
              <a:rPr sz="1500" b="0">
                <a:solidFill>
                  <a:srgbClr val="222222"/>
                </a:solidFill>
                <a:latin typeface="Calibri"/>
              </a:rPr>
              <a:t>“holding that stigma damages were properly included in calculation of severance damages”</a:t>
            </a:r>
          </a:p>
          <a:p>
            <a:pPr algn="l">
              <a:spcAft>
                <a:spcPts val="800"/>
              </a:spcAft>
            </a:pPr>
            <a:r>
              <a:rPr sz="1500" b="1">
                <a:solidFill>
                  <a:srgbClr val="008080"/>
                </a:solidFill>
                <a:latin typeface="Calibri"/>
              </a:rPr>
              <a:t>Tokens: </a:t>
            </a:r>
            <a:r>
              <a:rPr sz="1500" b="0">
                <a:solidFill>
                  <a:srgbClr val="222222"/>
                </a:solidFill>
                <a:latin typeface="Calibri"/>
              </a:rPr>
              <a:t>stigma, damag, properli, includ, calcul, sever, damag</a:t>
            </a:r>
          </a:p>
        </p:txBody>
      </p:sp>
      <p:sp>
        <p:nvSpPr>
          <p:cNvPr id="21" name="TextBox 20"/>
          <p:cNvSpPr txBox="1"/>
          <p:nvPr/>
        </p:nvSpPr>
        <p:spPr>
          <a:xfrm>
            <a:off x="6583680" y="1417320"/>
            <a:ext cx="5029200" cy="457200"/>
          </a:xfrm>
          <a:prstGeom prst="rect">
            <a:avLst/>
          </a:prstGeom>
          <a:noFill/>
        </p:spPr>
        <p:txBody>
          <a:bodyPr wrap="square" anchor="t" lIns="45720" rIns="45720">
            <a:spAutoFit/>
          </a:bodyPr>
          <a:lstStyle/>
          <a:p>
            <a:pPr algn="l">
              <a:spcAft>
                <a:spcPts val="600"/>
              </a:spcAft>
            </a:pPr>
            <a:r>
              <a:rPr sz="2000" b="1">
                <a:solidFill>
                  <a:srgbClr val="1B365D"/>
                </a:solidFill>
                <a:latin typeface="Calibri"/>
              </a:rPr>
              <a:t>Inverted index on the test pool</a:t>
            </a:r>
          </a:p>
        </p:txBody>
      </p:sp>
      <p:graphicFrame>
        <p:nvGraphicFramePr>
          <p:cNvPr id="22" name="Table 21"/>
          <p:cNvGraphicFramePr>
            <a:graphicFrameLocks noGrp="1"/>
          </p:cNvGraphicFramePr>
          <p:nvPr/>
        </p:nvGraphicFramePr>
        <p:xfrm>
          <a:off x="6583680" y="1965960"/>
          <a:ext cx="5029200" cy="2304288"/>
        </p:xfrm>
        <a:graphic>
          <a:graphicData uri="http://schemas.openxmlformats.org/drawingml/2006/table">
            <a:tbl>
              <a:tblPr firstRow="0" bandRow="0">
                <a:tableStyleId>{5940675A-B579-460E-94D1-54222C63F5DA}</a:tableStyleId>
              </a:tblPr>
              <a:tblGrid>
                <a:gridCol w="3291840"/>
                <a:gridCol w="1737360"/>
              </a:tblGrid>
              <a:tr h="384048">
                <a:tc>
                  <a:txBody>
                    <a:bodyPr/>
                    <a:lstStyle/>
                    <a:p>
                      <a:pPr algn="l"/>
                      <a:r>
                        <a:rPr sz="1500" b="1">
                          <a:solidFill>
                            <a:srgbClr val="FFFFFF"/>
                          </a:solidFill>
                          <a:latin typeface="Calibri"/>
                        </a:rPr>
                        <a:t/>
                      </a:r>
                    </a:p>
                  </a:txBody>
                  <a:tcPr marL="73152" marR="73152" anchor="ctr">
                    <a:solidFill>
                      <a:srgbClr val="1B365D"/>
                    </a:solidFill>
                  </a:tcPr>
                </a:tc>
                <a:tc>
                  <a:txBody>
                    <a:bodyPr/>
                    <a:lstStyle/>
                    <a:p>
                      <a:pPr algn="ctr"/>
                      <a:r>
                        <a:rPr sz="1500" b="1">
                          <a:solidFill>
                            <a:srgbClr val="FFFFFF"/>
                          </a:solidFill>
                          <a:latin typeface="Calibri"/>
                        </a:rPr>
                        <a:t>Value</a:t>
                      </a:r>
                    </a:p>
                  </a:txBody>
                  <a:tcPr marL="73152" marR="73152" anchor="ctr">
                    <a:solidFill>
                      <a:srgbClr val="1B365D"/>
                    </a:solidFill>
                  </a:tcPr>
                </a:tc>
              </a:tr>
              <a:tr h="384048">
                <a:tc>
                  <a:txBody>
                    <a:bodyPr/>
                    <a:lstStyle/>
                    <a:p>
                      <a:pPr algn="l"/>
                      <a:r>
                        <a:rPr sz="1500" b="0">
                          <a:solidFill>
                            <a:srgbClr val="222222"/>
                          </a:solidFill>
                          <a:latin typeface="Calibri"/>
                        </a:rPr>
                        <a:t>Holdings indexed</a:t>
                      </a:r>
                    </a:p>
                  </a:txBody>
                  <a:tcPr marL="73152" marR="73152" anchor="ctr">
                    <a:solidFill>
                      <a:srgbClr val="F9FAFB"/>
                    </a:solidFill>
                  </a:tcPr>
                </a:tc>
                <a:tc>
                  <a:txBody>
                    <a:bodyPr/>
                    <a:lstStyle/>
                    <a:p>
                      <a:pPr algn="ctr"/>
                      <a:r>
                        <a:rPr sz="1500" b="0">
                          <a:solidFill>
                            <a:srgbClr val="222222"/>
                          </a:solidFill>
                          <a:latin typeface="Calibri"/>
                        </a:rPr>
                        <a:t>13,297</a:t>
                      </a:r>
                    </a:p>
                  </a:txBody>
                  <a:tcPr marL="73152" marR="73152" anchor="ctr">
                    <a:solidFill>
                      <a:srgbClr val="F9FAFB"/>
                    </a:solidFill>
                  </a:tcPr>
                </a:tc>
              </a:tr>
              <a:tr h="384048">
                <a:tc>
                  <a:txBody>
                    <a:bodyPr/>
                    <a:lstStyle/>
                    <a:p>
                      <a:pPr algn="l"/>
                      <a:r>
                        <a:rPr sz="1500" b="0">
                          <a:solidFill>
                            <a:srgbClr val="222222"/>
                          </a:solidFill>
                          <a:latin typeface="Calibri"/>
                        </a:rPr>
                        <a:t>Vocabulary (stemmed terms)</a:t>
                      </a:r>
                    </a:p>
                  </a:txBody>
                  <a:tcPr marL="73152" marR="73152" anchor="ctr">
                    <a:solidFill>
                      <a:srgbClr val="FFFFFF"/>
                    </a:solidFill>
                  </a:tcPr>
                </a:tc>
                <a:tc>
                  <a:txBody>
                    <a:bodyPr/>
                    <a:lstStyle/>
                    <a:p>
                      <a:pPr algn="ctr"/>
                      <a:r>
                        <a:rPr sz="1500" b="0">
                          <a:solidFill>
                            <a:srgbClr val="222222"/>
                          </a:solidFill>
                          <a:latin typeface="Calibri"/>
                        </a:rPr>
                        <a:t>7,233</a:t>
                      </a:r>
                    </a:p>
                  </a:txBody>
                  <a:tcPr marL="73152" marR="73152" anchor="ctr">
                    <a:solidFill>
                      <a:srgbClr val="FFFFFF"/>
                    </a:solidFill>
                  </a:tcPr>
                </a:tc>
              </a:tr>
              <a:tr h="384048">
                <a:tc>
                  <a:txBody>
                    <a:bodyPr/>
                    <a:lstStyle/>
                    <a:p>
                      <a:pPr algn="l"/>
                      <a:r>
                        <a:rPr sz="1500" b="0">
                          <a:solidFill>
                            <a:srgbClr val="222222"/>
                          </a:solidFill>
                          <a:latin typeface="Calibri"/>
                        </a:rPr>
                        <a:t>Postings (term, holding) pairs</a:t>
                      </a:r>
                    </a:p>
                  </a:txBody>
                  <a:tcPr marL="73152" marR="73152" anchor="ctr">
                    <a:solidFill>
                      <a:srgbClr val="F9FAFB"/>
                    </a:solidFill>
                  </a:tcPr>
                </a:tc>
                <a:tc>
                  <a:txBody>
                    <a:bodyPr/>
                    <a:lstStyle/>
                    <a:p>
                      <a:pPr algn="ctr"/>
                      <a:r>
                        <a:rPr sz="1500" b="0">
                          <a:solidFill>
                            <a:srgbClr val="222222"/>
                          </a:solidFill>
                          <a:latin typeface="Calibri"/>
                        </a:rPr>
                        <a:t>150,284</a:t>
                      </a:r>
                    </a:p>
                  </a:txBody>
                  <a:tcPr marL="73152" marR="73152" anchor="ctr">
                    <a:solidFill>
                      <a:srgbClr val="F9FAFB"/>
                    </a:solidFill>
                  </a:tcPr>
                </a:tc>
              </a:tr>
              <a:tr h="384048">
                <a:tc>
                  <a:txBody>
                    <a:bodyPr/>
                    <a:lstStyle/>
                    <a:p>
                      <a:pPr algn="l"/>
                      <a:r>
                        <a:rPr sz="1500" b="0">
                          <a:solidFill>
                            <a:srgbClr val="222222"/>
                          </a:solidFill>
                          <a:latin typeface="Calibri"/>
                        </a:rPr>
                        <a:t>Avg. terms per holding</a:t>
                      </a:r>
                    </a:p>
                  </a:txBody>
                  <a:tcPr marL="73152" marR="73152" anchor="ctr">
                    <a:solidFill>
                      <a:srgbClr val="FFFFFF"/>
                    </a:solidFill>
                  </a:tcPr>
                </a:tc>
                <a:tc>
                  <a:txBody>
                    <a:bodyPr/>
                    <a:lstStyle/>
                    <a:p>
                      <a:pPr algn="ctr"/>
                      <a:r>
                        <a:rPr sz="1500" b="0">
                          <a:solidFill>
                            <a:srgbClr val="222222"/>
                          </a:solidFill>
                          <a:latin typeface="Calibri"/>
                        </a:rPr>
                        <a:t>12.56</a:t>
                      </a:r>
                    </a:p>
                  </a:txBody>
                  <a:tcPr marL="73152" marR="73152" anchor="ctr">
                    <a:solidFill>
                      <a:srgbClr val="FFFFFF"/>
                    </a:solidFill>
                  </a:tcPr>
                </a:tc>
              </a:tr>
              <a:tr h="384048">
                <a:tc>
                  <a:txBody>
                    <a:bodyPr/>
                    <a:lstStyle/>
                    <a:p>
                      <a:pPr algn="l"/>
                      <a:r>
                        <a:rPr sz="1500" b="0">
                          <a:solidFill>
                            <a:srgbClr val="222222"/>
                          </a:solidFill>
                          <a:latin typeface="Calibri"/>
                        </a:rPr>
                        <a:t>Avg. postings list length</a:t>
                      </a:r>
                    </a:p>
                  </a:txBody>
                  <a:tcPr marL="73152" marR="73152" anchor="ctr">
                    <a:solidFill>
                      <a:srgbClr val="F9FAFB"/>
                    </a:solidFill>
                  </a:tcPr>
                </a:tc>
                <a:tc>
                  <a:txBody>
                    <a:bodyPr/>
                    <a:lstStyle/>
                    <a:p>
                      <a:pPr algn="ctr"/>
                      <a:r>
                        <a:rPr sz="1500" b="0">
                          <a:solidFill>
                            <a:srgbClr val="222222"/>
                          </a:solidFill>
                          <a:latin typeface="Calibri"/>
                        </a:rPr>
                        <a:t>20.78</a:t>
                      </a:r>
                    </a:p>
                  </a:txBody>
                  <a:tcPr marL="73152" marR="73152" anchor="ctr">
                    <a:solidFill>
                      <a:srgbClr val="F9FAFB"/>
                    </a:solidFill>
                  </a:tcPr>
                </a:tc>
              </a:tr>
            </a:tbl>
          </a:graphicData>
        </a:graphic>
      </p:graphicFrame>
      <p:sp>
        <p:nvSpPr>
          <p:cNvPr id="23" name="TextBox 22"/>
          <p:cNvSpPr txBox="1"/>
          <p:nvPr/>
        </p:nvSpPr>
        <p:spPr>
          <a:xfrm>
            <a:off x="6583680" y="4434840"/>
            <a:ext cx="5029200" cy="1737360"/>
          </a:xfrm>
          <a:prstGeom prst="rect">
            <a:avLst/>
          </a:prstGeom>
          <a:noFill/>
        </p:spPr>
        <p:txBody>
          <a:bodyPr wrap="square" anchor="t" lIns="45720" rIns="45720">
            <a:spAutoFit/>
          </a:bodyPr>
          <a:lstStyle/>
          <a:p>
            <a:pPr algn="l">
              <a:spcAft>
                <a:spcPts val="400"/>
              </a:spcAft>
            </a:pPr>
            <a:r>
              <a:rPr sz="1500" b="1">
                <a:solidFill>
                  <a:srgbClr val="1B365D"/>
                </a:solidFill>
                <a:latin typeface="Calibri"/>
              </a:rPr>
              <a:t>Validation check (TF-IDF MRR)</a:t>
            </a:r>
          </a:p>
          <a:p>
            <a:pPr algn="l">
              <a:spcAft>
                <a:spcPts val="400"/>
              </a:spcAft>
            </a:pPr>
            <a:r>
              <a:rPr sz="1500" b="0">
                <a:solidFill>
                  <a:srgbClr val="222222"/>
                </a:solidFill>
                <a:latin typeface="Calibri"/>
              </a:rPr>
              <a:t>no stop words, no stemming: 0.283</a:t>
            </a:r>
          </a:p>
          <a:p>
            <a:pPr algn="l">
              <a:spcAft>
                <a:spcPts val="400"/>
              </a:spcAft>
            </a:pPr>
            <a:r>
              <a:rPr sz="1500" b="0">
                <a:solidFill>
                  <a:srgbClr val="222222"/>
                </a:solidFill>
                <a:latin typeface="Calibri"/>
              </a:rPr>
              <a:t>stop words only: 0.279</a:t>
            </a:r>
          </a:p>
          <a:p>
            <a:pPr algn="l">
              <a:spcAft>
                <a:spcPts val="400"/>
              </a:spcAft>
            </a:pPr>
            <a:r>
              <a:rPr sz="1500" b="0">
                <a:solidFill>
                  <a:srgbClr val="222222"/>
                </a:solidFill>
                <a:latin typeface="Calibri"/>
              </a:rPr>
              <a:t>stop words + stemming: 0.306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The four ranking models</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Methodology</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8 / 17</a:t>
            </a:r>
          </a:p>
        </p:txBody>
      </p:sp>
      <p:sp>
        <p:nvSpPr>
          <p:cNvPr id="7" name="Rectangle 6"/>
          <p:cNvSpPr/>
          <p:nvPr/>
        </p:nvSpPr>
        <p:spPr>
          <a:xfrm>
            <a:off x="548640" y="1463040"/>
            <a:ext cx="2633472" cy="2331720"/>
          </a:xfrm>
          <a:prstGeom prst="rect">
            <a:avLst/>
          </a:prstGeom>
          <a:solidFill>
            <a:srgbClr val="F4F6F8"/>
          </a:solidFill>
          <a:ln>
            <a:noFill/>
          </a:ln>
        </p:spPr>
        <p:txBody>
          <a:bodyPr rtlCol="0" anchor="ctr"/>
          <a:lstStyle/>
          <a:p>
            <a:pPr algn="ctr"/>
          </a:p>
        </p:txBody>
      </p:sp>
      <p:sp>
        <p:nvSpPr>
          <p:cNvPr id="8" name="Rectangle 7"/>
          <p:cNvSpPr/>
          <p:nvPr/>
        </p:nvSpPr>
        <p:spPr>
          <a:xfrm>
            <a:off x="548640" y="1463040"/>
            <a:ext cx="2633472" cy="73152"/>
          </a:xfrm>
          <a:prstGeom prst="rect">
            <a:avLst/>
          </a:prstGeom>
          <a:solidFill>
            <a:srgbClr val="1B365D"/>
          </a:solidFill>
          <a:ln>
            <a:noFill/>
          </a:ln>
        </p:spPr>
        <p:txBody>
          <a:bodyPr rtlCol="0" anchor="ctr"/>
          <a:lstStyle/>
          <a:p>
            <a:pPr algn="ctr"/>
          </a:p>
        </p:txBody>
      </p:sp>
      <p:sp>
        <p:nvSpPr>
          <p:cNvPr id="9" name="TextBox 8"/>
          <p:cNvSpPr txBox="1"/>
          <p:nvPr/>
        </p:nvSpPr>
        <p:spPr>
          <a:xfrm>
            <a:off x="685800" y="1627632"/>
            <a:ext cx="2377440" cy="457200"/>
          </a:xfrm>
          <a:prstGeom prst="rect">
            <a:avLst/>
          </a:prstGeom>
          <a:noFill/>
        </p:spPr>
        <p:txBody>
          <a:bodyPr wrap="square" anchor="t" lIns="45720" rIns="45720">
            <a:spAutoFit/>
          </a:bodyPr>
          <a:lstStyle/>
          <a:p>
            <a:pPr algn="l">
              <a:spcAft>
                <a:spcPts val="600"/>
              </a:spcAft>
            </a:pPr>
            <a:r>
              <a:rPr sz="1900" b="1">
                <a:solidFill>
                  <a:srgbClr val="1B365D"/>
                </a:solidFill>
                <a:latin typeface="Calibri"/>
              </a:rPr>
              <a:t>TF-IDF</a:t>
            </a:r>
          </a:p>
        </p:txBody>
      </p:sp>
      <p:sp>
        <p:nvSpPr>
          <p:cNvPr id="10" name="TextBox 9"/>
          <p:cNvSpPr txBox="1"/>
          <p:nvPr/>
        </p:nvSpPr>
        <p:spPr>
          <a:xfrm>
            <a:off x="685800" y="2148840"/>
            <a:ext cx="2377440" cy="1645920"/>
          </a:xfrm>
          <a:prstGeom prst="rect">
            <a:avLst/>
          </a:prstGeom>
          <a:noFill/>
        </p:spPr>
        <p:txBody>
          <a:bodyPr wrap="square" anchor="t" lIns="45720" rIns="45720">
            <a:spAutoFit/>
          </a:bodyPr>
          <a:lstStyle/>
          <a:p>
            <a:pPr algn="l">
              <a:spcAft>
                <a:spcPts val="600"/>
              </a:spcAft>
            </a:pPr>
            <a:r>
              <a:rPr sz="1700" b="0">
                <a:solidFill>
                  <a:srgbClr val="222222"/>
                </a:solidFill>
                <a:latin typeface="Calibri"/>
              </a:rPr>
              <a:t>Vector of (1 + log tf) × idf weights, ranked by cosine similarity.</a:t>
            </a:r>
          </a:p>
        </p:txBody>
      </p:sp>
      <p:sp>
        <p:nvSpPr>
          <p:cNvPr id="11" name="Rectangle 10"/>
          <p:cNvSpPr/>
          <p:nvPr/>
        </p:nvSpPr>
        <p:spPr>
          <a:xfrm>
            <a:off x="3364992" y="1463040"/>
            <a:ext cx="2633472" cy="2331720"/>
          </a:xfrm>
          <a:prstGeom prst="rect">
            <a:avLst/>
          </a:prstGeom>
          <a:solidFill>
            <a:srgbClr val="F4F6F8"/>
          </a:solidFill>
          <a:ln>
            <a:noFill/>
          </a:ln>
        </p:spPr>
        <p:txBody>
          <a:bodyPr rtlCol="0" anchor="ctr"/>
          <a:lstStyle/>
          <a:p>
            <a:pPr algn="ctr"/>
          </a:p>
        </p:txBody>
      </p:sp>
      <p:sp>
        <p:nvSpPr>
          <p:cNvPr id="12" name="Rectangle 11"/>
          <p:cNvSpPr/>
          <p:nvPr/>
        </p:nvSpPr>
        <p:spPr>
          <a:xfrm>
            <a:off x="3364992" y="1463040"/>
            <a:ext cx="2633472" cy="73152"/>
          </a:xfrm>
          <a:prstGeom prst="rect">
            <a:avLst/>
          </a:prstGeom>
          <a:solidFill>
            <a:srgbClr val="1B365D"/>
          </a:solidFill>
          <a:ln>
            <a:noFill/>
          </a:ln>
        </p:spPr>
        <p:txBody>
          <a:bodyPr rtlCol="0" anchor="ctr"/>
          <a:lstStyle/>
          <a:p>
            <a:pPr algn="ctr"/>
          </a:p>
        </p:txBody>
      </p:sp>
      <p:sp>
        <p:nvSpPr>
          <p:cNvPr id="13" name="TextBox 12"/>
          <p:cNvSpPr txBox="1"/>
          <p:nvPr/>
        </p:nvSpPr>
        <p:spPr>
          <a:xfrm>
            <a:off x="3502152" y="1627632"/>
            <a:ext cx="2377440" cy="457200"/>
          </a:xfrm>
          <a:prstGeom prst="rect">
            <a:avLst/>
          </a:prstGeom>
          <a:noFill/>
        </p:spPr>
        <p:txBody>
          <a:bodyPr wrap="square" anchor="t" lIns="45720" rIns="45720">
            <a:spAutoFit/>
          </a:bodyPr>
          <a:lstStyle/>
          <a:p>
            <a:pPr algn="l">
              <a:spcAft>
                <a:spcPts val="600"/>
              </a:spcAft>
            </a:pPr>
            <a:r>
              <a:rPr sz="1900" b="1">
                <a:solidFill>
                  <a:srgbClr val="1B365D"/>
                </a:solidFill>
                <a:latin typeface="Calibri"/>
              </a:rPr>
              <a:t>BM25</a:t>
            </a:r>
          </a:p>
        </p:txBody>
      </p:sp>
      <p:sp>
        <p:nvSpPr>
          <p:cNvPr id="14" name="TextBox 13"/>
          <p:cNvSpPr txBox="1"/>
          <p:nvPr/>
        </p:nvSpPr>
        <p:spPr>
          <a:xfrm>
            <a:off x="3502152" y="2148840"/>
            <a:ext cx="2377440" cy="1645920"/>
          </a:xfrm>
          <a:prstGeom prst="rect">
            <a:avLst/>
          </a:prstGeom>
          <a:noFill/>
        </p:spPr>
        <p:txBody>
          <a:bodyPr wrap="square" anchor="t" lIns="45720" rIns="45720">
            <a:spAutoFit/>
          </a:bodyPr>
          <a:lstStyle/>
          <a:p>
            <a:pPr algn="l">
              <a:spcAft>
                <a:spcPts val="600"/>
              </a:spcAft>
            </a:pPr>
            <a:r>
              <a:rPr sz="1700" b="0">
                <a:solidFill>
                  <a:srgbClr val="222222"/>
                </a:solidFill>
                <a:latin typeface="Calibri"/>
              </a:rPr>
              <a:t>Probabilistic model with term saturation (k1) and length normalisation (b). Our own implementation on the inverted index.</a:t>
            </a:r>
          </a:p>
        </p:txBody>
      </p:sp>
      <p:sp>
        <p:nvSpPr>
          <p:cNvPr id="15" name="Rectangle 14"/>
          <p:cNvSpPr/>
          <p:nvPr/>
        </p:nvSpPr>
        <p:spPr>
          <a:xfrm>
            <a:off x="6181344" y="1463040"/>
            <a:ext cx="2633472" cy="2331720"/>
          </a:xfrm>
          <a:prstGeom prst="rect">
            <a:avLst/>
          </a:prstGeom>
          <a:solidFill>
            <a:srgbClr val="F4F6F8"/>
          </a:solidFill>
          <a:ln>
            <a:noFill/>
          </a:ln>
        </p:spPr>
        <p:txBody>
          <a:bodyPr rtlCol="0" anchor="ctr"/>
          <a:lstStyle/>
          <a:p>
            <a:pPr algn="ctr"/>
          </a:p>
        </p:txBody>
      </p:sp>
      <p:sp>
        <p:nvSpPr>
          <p:cNvPr id="16" name="Rectangle 15"/>
          <p:cNvSpPr/>
          <p:nvPr/>
        </p:nvSpPr>
        <p:spPr>
          <a:xfrm>
            <a:off x="6181344" y="1463040"/>
            <a:ext cx="2633472" cy="73152"/>
          </a:xfrm>
          <a:prstGeom prst="rect">
            <a:avLst/>
          </a:prstGeom>
          <a:solidFill>
            <a:srgbClr val="1B365D"/>
          </a:solidFill>
          <a:ln>
            <a:noFill/>
          </a:ln>
        </p:spPr>
        <p:txBody>
          <a:bodyPr rtlCol="0" anchor="ctr"/>
          <a:lstStyle/>
          <a:p>
            <a:pPr algn="ctr"/>
          </a:p>
        </p:txBody>
      </p:sp>
      <p:sp>
        <p:nvSpPr>
          <p:cNvPr id="17" name="TextBox 16"/>
          <p:cNvSpPr txBox="1"/>
          <p:nvPr/>
        </p:nvSpPr>
        <p:spPr>
          <a:xfrm>
            <a:off x="6318504" y="1627632"/>
            <a:ext cx="2377440" cy="457200"/>
          </a:xfrm>
          <a:prstGeom prst="rect">
            <a:avLst/>
          </a:prstGeom>
          <a:noFill/>
        </p:spPr>
        <p:txBody>
          <a:bodyPr wrap="square" anchor="t" lIns="45720" rIns="45720">
            <a:spAutoFit/>
          </a:bodyPr>
          <a:lstStyle/>
          <a:p>
            <a:pPr algn="l">
              <a:spcAft>
                <a:spcPts val="600"/>
              </a:spcAft>
            </a:pPr>
            <a:r>
              <a:rPr sz="1900" b="1">
                <a:solidFill>
                  <a:srgbClr val="1B365D"/>
                </a:solidFill>
                <a:latin typeface="Calibri"/>
              </a:rPr>
              <a:t>Sentence Transformer</a:t>
            </a:r>
          </a:p>
        </p:txBody>
      </p:sp>
      <p:sp>
        <p:nvSpPr>
          <p:cNvPr id="18" name="TextBox 17"/>
          <p:cNvSpPr txBox="1"/>
          <p:nvPr/>
        </p:nvSpPr>
        <p:spPr>
          <a:xfrm>
            <a:off x="6318504" y="2148840"/>
            <a:ext cx="2377440" cy="1645920"/>
          </a:xfrm>
          <a:prstGeom prst="rect">
            <a:avLst/>
          </a:prstGeom>
          <a:noFill/>
        </p:spPr>
        <p:txBody>
          <a:bodyPr wrap="square" anchor="t" lIns="45720" rIns="45720">
            <a:spAutoFit/>
          </a:bodyPr>
          <a:lstStyle/>
          <a:p>
            <a:pPr algn="l">
              <a:spcAft>
                <a:spcPts val="600"/>
              </a:spcAft>
            </a:pPr>
            <a:r>
              <a:rPr sz="1700" b="0">
                <a:solidFill>
                  <a:srgbClr val="222222"/>
                </a:solidFill>
                <a:latin typeface="Calibri"/>
              </a:rPr>
              <a:t>all-MiniLM-L6-v2: text → 384-d vector; cosine similarity. Captures meaning, not exact words.</a:t>
            </a:r>
          </a:p>
        </p:txBody>
      </p:sp>
      <p:sp>
        <p:nvSpPr>
          <p:cNvPr id="19" name="Rectangle 18"/>
          <p:cNvSpPr/>
          <p:nvPr/>
        </p:nvSpPr>
        <p:spPr>
          <a:xfrm>
            <a:off x="8997696" y="1463040"/>
            <a:ext cx="2633472" cy="2331720"/>
          </a:xfrm>
          <a:prstGeom prst="rect">
            <a:avLst/>
          </a:prstGeom>
          <a:solidFill>
            <a:srgbClr val="F4F6F8"/>
          </a:solidFill>
          <a:ln>
            <a:noFill/>
          </a:ln>
        </p:spPr>
        <p:txBody>
          <a:bodyPr rtlCol="0" anchor="ctr"/>
          <a:lstStyle/>
          <a:p>
            <a:pPr algn="ctr"/>
          </a:p>
        </p:txBody>
      </p:sp>
      <p:sp>
        <p:nvSpPr>
          <p:cNvPr id="20" name="Rectangle 19"/>
          <p:cNvSpPr/>
          <p:nvPr/>
        </p:nvSpPr>
        <p:spPr>
          <a:xfrm>
            <a:off x="8997696" y="1463040"/>
            <a:ext cx="2633472" cy="73152"/>
          </a:xfrm>
          <a:prstGeom prst="rect">
            <a:avLst/>
          </a:prstGeom>
          <a:solidFill>
            <a:srgbClr val="008080"/>
          </a:solidFill>
          <a:ln>
            <a:noFill/>
          </a:ln>
        </p:spPr>
        <p:txBody>
          <a:bodyPr rtlCol="0" anchor="ctr"/>
          <a:lstStyle/>
          <a:p>
            <a:pPr algn="ctr"/>
          </a:p>
        </p:txBody>
      </p:sp>
      <p:sp>
        <p:nvSpPr>
          <p:cNvPr id="21" name="TextBox 20"/>
          <p:cNvSpPr txBox="1"/>
          <p:nvPr/>
        </p:nvSpPr>
        <p:spPr>
          <a:xfrm>
            <a:off x="9134856" y="1627632"/>
            <a:ext cx="2377440" cy="457200"/>
          </a:xfrm>
          <a:prstGeom prst="rect">
            <a:avLst/>
          </a:prstGeom>
          <a:noFill/>
        </p:spPr>
        <p:txBody>
          <a:bodyPr wrap="square" anchor="t" lIns="45720" rIns="45720">
            <a:spAutoFit/>
          </a:bodyPr>
          <a:lstStyle/>
          <a:p>
            <a:pPr algn="l">
              <a:spcAft>
                <a:spcPts val="600"/>
              </a:spcAft>
            </a:pPr>
            <a:r>
              <a:rPr sz="1900" b="1">
                <a:solidFill>
                  <a:srgbClr val="008080"/>
                </a:solidFill>
                <a:latin typeface="Calibri"/>
              </a:rPr>
              <a:t>Hybrid RRF</a:t>
            </a:r>
          </a:p>
        </p:txBody>
      </p:sp>
      <p:sp>
        <p:nvSpPr>
          <p:cNvPr id="22" name="TextBox 21"/>
          <p:cNvSpPr txBox="1"/>
          <p:nvPr/>
        </p:nvSpPr>
        <p:spPr>
          <a:xfrm>
            <a:off x="9134856" y="2148840"/>
            <a:ext cx="2377440" cy="1645920"/>
          </a:xfrm>
          <a:prstGeom prst="rect">
            <a:avLst/>
          </a:prstGeom>
          <a:noFill/>
        </p:spPr>
        <p:txBody>
          <a:bodyPr wrap="square" anchor="t" lIns="45720" rIns="45720">
            <a:spAutoFit/>
          </a:bodyPr>
          <a:lstStyle/>
          <a:p>
            <a:pPr algn="l">
              <a:spcAft>
                <a:spcPts val="600"/>
              </a:spcAft>
            </a:pPr>
            <a:r>
              <a:rPr sz="1700" b="0">
                <a:solidFill>
                  <a:srgbClr val="222222"/>
                </a:solidFill>
                <a:latin typeface="Calibri"/>
              </a:rPr>
              <a:t>Merges the top-1000 lists of the three models by rank only, so no score normalisation is needed.</a:t>
            </a:r>
          </a:p>
        </p:txBody>
      </p:sp>
      <p:sp>
        <p:nvSpPr>
          <p:cNvPr id="23" name="TextBox 22"/>
          <p:cNvSpPr txBox="1"/>
          <p:nvPr/>
        </p:nvSpPr>
        <p:spPr>
          <a:xfrm>
            <a:off x="548640" y="4069080"/>
            <a:ext cx="11064240" cy="457200"/>
          </a:xfrm>
          <a:prstGeom prst="rect">
            <a:avLst/>
          </a:prstGeom>
          <a:noFill/>
        </p:spPr>
        <p:txBody>
          <a:bodyPr wrap="square" anchor="t" lIns="45720" rIns="45720">
            <a:spAutoFit/>
          </a:bodyPr>
          <a:lstStyle/>
          <a:p>
            <a:pPr algn="ctr">
              <a:spcAft>
                <a:spcPts val="600"/>
              </a:spcAft>
            </a:pPr>
            <a:r>
              <a:rPr sz="2000" b="1">
                <a:solidFill>
                  <a:srgbClr val="1B365D"/>
                </a:solidFill>
                <a:latin typeface="Calibri"/>
              </a:rPr>
              <a:t>BM25(q, d) = Σ idf(t) · tf·(k1 + 1) / ( tf + k1·(1 - b + b·|d|/avgdl) )</a:t>
            </a:r>
          </a:p>
        </p:txBody>
      </p:sp>
      <p:sp>
        <p:nvSpPr>
          <p:cNvPr id="24" name="TextBox 23"/>
          <p:cNvSpPr txBox="1"/>
          <p:nvPr/>
        </p:nvSpPr>
        <p:spPr>
          <a:xfrm>
            <a:off x="548640" y="4709160"/>
            <a:ext cx="11064240" cy="457200"/>
          </a:xfrm>
          <a:prstGeom prst="rect">
            <a:avLst/>
          </a:prstGeom>
          <a:noFill/>
        </p:spPr>
        <p:txBody>
          <a:bodyPr wrap="square" anchor="t" lIns="45720" rIns="45720">
            <a:spAutoFit/>
          </a:bodyPr>
          <a:lstStyle/>
          <a:p>
            <a:pPr algn="ctr">
              <a:spcAft>
                <a:spcPts val="600"/>
              </a:spcAft>
            </a:pPr>
            <a:r>
              <a:rPr sz="2000" b="1">
                <a:solidFill>
                  <a:srgbClr val="008080"/>
                </a:solidFill>
                <a:latin typeface="Calibri"/>
              </a:rPr>
              <a:t>RRF(d) = Σ over models m of  1 / (k + rank_m(d)),   k = 60</a:t>
            </a:r>
          </a:p>
        </p:txBody>
      </p:sp>
      <p:sp>
        <p:nvSpPr>
          <p:cNvPr id="25" name="TextBox 24"/>
          <p:cNvSpPr txBox="1"/>
          <p:nvPr/>
        </p:nvSpPr>
        <p:spPr>
          <a:xfrm>
            <a:off x="548640" y="5394960"/>
            <a:ext cx="11064240" cy="731520"/>
          </a:xfrm>
          <a:prstGeom prst="rect">
            <a:avLst/>
          </a:prstGeom>
          <a:noFill/>
        </p:spPr>
        <p:txBody>
          <a:bodyPr wrap="square" anchor="t" lIns="45720" rIns="45720">
            <a:spAutoFit/>
          </a:bodyPr>
          <a:lstStyle/>
          <a:p>
            <a:pPr algn="ctr">
              <a:spcAft>
                <a:spcPts val="600"/>
              </a:spcAft>
            </a:pPr>
            <a:r>
              <a:rPr sz="1600" b="1">
                <a:solidFill>
                  <a:srgbClr val="1B365D"/>
                </a:solidFill>
                <a:latin typeface="Calibri"/>
              </a:rPr>
              <a:t>Metrics: </a:t>
            </a:r>
            <a:r>
              <a:rPr sz="1600" b="0">
                <a:solidFill>
                  <a:srgbClr val="222222"/>
                </a:solidFill>
                <a:latin typeface="Calibri"/>
              </a:rPr>
              <a:t>one relevant holding per query, so MAP = MRR and the best possible Precision@10 is 0.1. nDCG@10 = 1 / log2(rank + 1) inside the top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Choosing settings on the validation split</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Methodology</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9 / 17</a:t>
            </a:r>
          </a:p>
        </p:txBody>
      </p:sp>
      <p:pic>
        <p:nvPicPr>
          <p:cNvPr id="7" name="Picture 6" descr="bm25_tuning.png"/>
          <p:cNvPicPr>
            <a:picLocks noChangeAspect="1"/>
          </p:cNvPicPr>
          <p:nvPr/>
        </p:nvPicPr>
        <p:blipFill>
          <a:blip r:embed="rId3"/>
          <a:stretch>
            <a:fillRect/>
          </a:stretch>
        </p:blipFill>
        <p:spPr>
          <a:xfrm>
            <a:off x="548640" y="1371600"/>
            <a:ext cx="5782819" cy="4206240"/>
          </a:xfrm>
          <a:prstGeom prst="rect">
            <a:avLst/>
          </a:prstGeom>
        </p:spPr>
      </p:pic>
      <p:sp>
        <p:nvSpPr>
          <p:cNvPr id="8" name="TextBox 7"/>
          <p:cNvSpPr txBox="1"/>
          <p:nvPr/>
        </p:nvSpPr>
        <p:spPr>
          <a:xfrm>
            <a:off x="6400800" y="1463040"/>
            <a:ext cx="5212080" cy="4572000"/>
          </a:xfrm>
          <a:prstGeom prst="rect">
            <a:avLst/>
          </a:prstGeom>
          <a:noFill/>
        </p:spPr>
        <p:txBody>
          <a:bodyPr wrap="square" anchor="t" lIns="45720" rIns="45720">
            <a:spAutoFit/>
          </a:bodyPr>
          <a:lstStyle/>
          <a:p>
            <a:pPr algn="l">
              <a:spcAft>
                <a:spcPts val="1600"/>
              </a:spcAft>
            </a:pPr>
            <a:r>
              <a:rPr sz="1800" b="1">
                <a:solidFill>
                  <a:srgbClr val="1B365D"/>
                </a:solidFill>
                <a:latin typeface="Calibri"/>
              </a:rPr>
              <a:t>Query: </a:t>
            </a:r>
            <a:r>
              <a:rPr sz="1800" b="0">
                <a:solidFill>
                  <a:srgbClr val="222222"/>
                </a:solidFill>
                <a:latin typeface="Calibri"/>
              </a:rPr>
              <a:t>whole passage (MRR 0.307) beat last 64 words (0.290) and last 32 (0.214)</a:t>
            </a:r>
          </a:p>
          <a:p>
            <a:pPr algn="l">
              <a:spcAft>
                <a:spcPts val="1600"/>
              </a:spcAft>
            </a:pPr>
            <a:r>
              <a:rPr sz="1800" b="1">
                <a:solidFill>
                  <a:srgbClr val="1B365D"/>
                </a:solidFill>
                <a:latin typeface="Calibri"/>
              </a:rPr>
              <a:t>BM25: </a:t>
            </a:r>
            <a:r>
              <a:rPr sz="1800" b="0">
                <a:solidFill>
                  <a:srgbClr val="222222"/>
                </a:solidFill>
                <a:latin typeface="Calibri"/>
              </a:rPr>
              <a:t>k1 = 0.6, b = 0.9 (short documents: low k1, strong length normalisation)</a:t>
            </a:r>
          </a:p>
          <a:p>
            <a:pPr algn="l">
              <a:spcAft>
                <a:spcPts val="1600"/>
              </a:spcAft>
            </a:pPr>
            <a:r>
              <a:rPr sz="1800" b="1">
                <a:solidFill>
                  <a:srgbClr val="1B365D"/>
                </a:solidFill>
                <a:latin typeface="Calibri"/>
              </a:rPr>
              <a:t>Dense model: </a:t>
            </a:r>
            <a:r>
              <a:rPr sz="1800" b="0">
                <a:solidFill>
                  <a:srgbClr val="222222"/>
                </a:solidFill>
                <a:latin typeface="Calibri"/>
              </a:rPr>
              <a:t>MiniLM 0.234 vs BGE-small 0.182</a:t>
            </a:r>
          </a:p>
          <a:p>
            <a:pPr algn="l">
              <a:spcAft>
                <a:spcPts val="1600"/>
              </a:spcAft>
            </a:pPr>
            <a:r>
              <a:rPr sz="1800" b="1">
                <a:solidFill>
                  <a:srgbClr val="1B365D"/>
                </a:solidFill>
                <a:latin typeface="Calibri"/>
              </a:rPr>
              <a:t>RRF k: </a:t>
            </a:r>
            <a:r>
              <a:rPr sz="1800" b="0">
                <a:solidFill>
                  <a:srgbClr val="222222"/>
                </a:solidFill>
                <a:latin typeface="Calibri"/>
              </a:rPr>
              <a:t>k = 1 → 0.331, k = 60 → 0.317; we report both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Results: full-pool search (3,600 queries, 13,297 holdings)</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Results</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10 / 17</a:t>
            </a:r>
          </a:p>
        </p:txBody>
      </p:sp>
      <p:graphicFrame>
        <p:nvGraphicFramePr>
          <p:cNvPr id="7" name="Table 6"/>
          <p:cNvGraphicFramePr>
            <a:graphicFrameLocks noGrp="1"/>
          </p:cNvGraphicFramePr>
          <p:nvPr/>
        </p:nvGraphicFramePr>
        <p:xfrm>
          <a:off x="548640" y="1463040"/>
          <a:ext cx="11064240" cy="3017520"/>
        </p:xfrm>
        <a:graphic>
          <a:graphicData uri="http://schemas.openxmlformats.org/drawingml/2006/table">
            <a:tbl>
              <a:tblPr firstRow="0" bandRow="0">
                <a:tableStyleId>{5940675A-B579-460E-94D1-54222C63F5DA}</a:tableStyleId>
              </a:tblPr>
              <a:tblGrid>
                <a:gridCol w="3291840"/>
                <a:gridCol w="1554480"/>
                <a:gridCol w="1554480"/>
                <a:gridCol w="1554480"/>
                <a:gridCol w="1554480"/>
                <a:gridCol w="1554480"/>
              </a:tblGrid>
              <a:tr h="502920">
                <a:tc>
                  <a:txBody>
                    <a:bodyPr/>
                    <a:lstStyle/>
                    <a:p>
                      <a:pPr algn="l"/>
                      <a:r>
                        <a:rPr sz="1700" b="1">
                          <a:solidFill>
                            <a:srgbClr val="FFFFFF"/>
                          </a:solidFill>
                          <a:latin typeface="Calibri"/>
                        </a:rPr>
                        <a:t>Ranking model</a:t>
                      </a:r>
                    </a:p>
                  </a:txBody>
                  <a:tcPr marL="73152" marR="73152" anchor="ctr">
                    <a:solidFill>
                      <a:srgbClr val="1B365D"/>
                    </a:solidFill>
                  </a:tcPr>
                </a:tc>
                <a:tc>
                  <a:txBody>
                    <a:bodyPr/>
                    <a:lstStyle/>
                    <a:p>
                      <a:pPr algn="ctr"/>
                      <a:r>
                        <a:rPr sz="1700" b="1">
                          <a:solidFill>
                            <a:srgbClr val="FFFFFF"/>
                          </a:solidFill>
                          <a:latin typeface="Calibri"/>
                        </a:rPr>
                        <a:t>Precision@10</a:t>
                      </a:r>
                    </a:p>
                  </a:txBody>
                  <a:tcPr marL="73152" marR="73152" anchor="ctr">
                    <a:solidFill>
                      <a:srgbClr val="1B365D"/>
                    </a:solidFill>
                  </a:tcPr>
                </a:tc>
                <a:tc>
                  <a:txBody>
                    <a:bodyPr/>
                    <a:lstStyle/>
                    <a:p>
                      <a:pPr algn="ctr"/>
                      <a:r>
                        <a:rPr sz="1700" b="1">
                          <a:solidFill>
                            <a:srgbClr val="FFFFFF"/>
                          </a:solidFill>
                          <a:latin typeface="Calibri"/>
                        </a:rPr>
                        <a:t>Recall@10</a:t>
                      </a:r>
                    </a:p>
                  </a:txBody>
                  <a:tcPr marL="73152" marR="73152" anchor="ctr">
                    <a:solidFill>
                      <a:srgbClr val="1B365D"/>
                    </a:solidFill>
                  </a:tcPr>
                </a:tc>
                <a:tc>
                  <a:txBody>
                    <a:bodyPr/>
                    <a:lstStyle/>
                    <a:p>
                      <a:pPr algn="ctr"/>
                      <a:r>
                        <a:rPr sz="1700" b="1">
                          <a:solidFill>
                            <a:srgbClr val="FFFFFF"/>
                          </a:solidFill>
                          <a:latin typeface="Calibri"/>
                        </a:rPr>
                        <a:t>Recall@100</a:t>
                      </a:r>
                    </a:p>
                  </a:txBody>
                  <a:tcPr marL="73152" marR="73152" anchor="ctr">
                    <a:solidFill>
                      <a:srgbClr val="1B365D"/>
                    </a:solidFill>
                  </a:tcPr>
                </a:tc>
                <a:tc>
                  <a:txBody>
                    <a:bodyPr/>
                    <a:lstStyle/>
                    <a:p>
                      <a:pPr algn="ctr"/>
                      <a:r>
                        <a:rPr sz="1700" b="1">
                          <a:solidFill>
                            <a:srgbClr val="FFFFFF"/>
                          </a:solidFill>
                          <a:latin typeface="Calibri"/>
                        </a:rPr>
                        <a:t>MAP (= MRR)</a:t>
                      </a:r>
                    </a:p>
                  </a:txBody>
                  <a:tcPr marL="73152" marR="73152" anchor="ctr">
                    <a:solidFill>
                      <a:srgbClr val="1B365D"/>
                    </a:solidFill>
                  </a:tcPr>
                </a:tc>
                <a:tc>
                  <a:txBody>
                    <a:bodyPr/>
                    <a:lstStyle/>
                    <a:p>
                      <a:pPr algn="ctr"/>
                      <a:r>
                        <a:rPr sz="1700" b="1">
                          <a:solidFill>
                            <a:srgbClr val="FFFFFF"/>
                          </a:solidFill>
                          <a:latin typeface="Calibri"/>
                        </a:rPr>
                        <a:t>nDCG@10</a:t>
                      </a:r>
                    </a:p>
                  </a:txBody>
                  <a:tcPr marL="73152" marR="73152" anchor="ctr">
                    <a:solidFill>
                      <a:srgbClr val="1B365D"/>
                    </a:solidFill>
                  </a:tcPr>
                </a:tc>
              </a:tr>
              <a:tr h="502920">
                <a:tc>
                  <a:txBody>
                    <a:bodyPr/>
                    <a:lstStyle/>
                    <a:p>
                      <a:pPr algn="l"/>
                      <a:r>
                        <a:rPr sz="1700" b="0">
                          <a:solidFill>
                            <a:srgbClr val="222222"/>
                          </a:solidFill>
                          <a:latin typeface="Calibri"/>
                        </a:rPr>
                        <a:t>TF-IDF</a:t>
                      </a:r>
                    </a:p>
                  </a:txBody>
                  <a:tcPr marL="73152" marR="73152" anchor="ctr">
                    <a:solidFill>
                      <a:srgbClr val="F9FAFB"/>
                    </a:solidFill>
                  </a:tcPr>
                </a:tc>
                <a:tc>
                  <a:txBody>
                    <a:bodyPr/>
                    <a:lstStyle/>
                    <a:p>
                      <a:pPr algn="ctr"/>
                      <a:r>
                        <a:rPr sz="1700" b="0">
                          <a:solidFill>
                            <a:srgbClr val="222222"/>
                          </a:solidFill>
                          <a:latin typeface="Calibri"/>
                        </a:rPr>
                        <a:t>0.049</a:t>
                      </a:r>
                    </a:p>
                  </a:txBody>
                  <a:tcPr marL="73152" marR="73152" anchor="ctr">
                    <a:solidFill>
                      <a:srgbClr val="F9FAFB"/>
                    </a:solidFill>
                  </a:tcPr>
                </a:tc>
                <a:tc>
                  <a:txBody>
                    <a:bodyPr/>
                    <a:lstStyle/>
                    <a:p>
                      <a:pPr algn="ctr"/>
                      <a:r>
                        <a:rPr sz="1700" b="0">
                          <a:solidFill>
                            <a:srgbClr val="222222"/>
                          </a:solidFill>
                          <a:latin typeface="Calibri"/>
                        </a:rPr>
                        <a:t>0.488</a:t>
                      </a:r>
                    </a:p>
                  </a:txBody>
                  <a:tcPr marL="73152" marR="73152" anchor="ctr">
                    <a:solidFill>
                      <a:srgbClr val="F9FAFB"/>
                    </a:solidFill>
                  </a:tcPr>
                </a:tc>
                <a:tc>
                  <a:txBody>
                    <a:bodyPr/>
                    <a:lstStyle/>
                    <a:p>
                      <a:pPr algn="ctr"/>
                      <a:r>
                        <a:rPr sz="1700" b="0">
                          <a:solidFill>
                            <a:srgbClr val="222222"/>
                          </a:solidFill>
                          <a:latin typeface="Calibri"/>
                        </a:rPr>
                        <a:t>0.729</a:t>
                      </a:r>
                    </a:p>
                  </a:txBody>
                  <a:tcPr marL="73152" marR="73152" anchor="ctr">
                    <a:solidFill>
                      <a:srgbClr val="F9FAFB"/>
                    </a:solidFill>
                  </a:tcPr>
                </a:tc>
                <a:tc>
                  <a:txBody>
                    <a:bodyPr/>
                    <a:lstStyle/>
                    <a:p>
                      <a:pPr algn="ctr"/>
                      <a:r>
                        <a:rPr sz="1700" b="0">
                          <a:solidFill>
                            <a:srgbClr val="222222"/>
                          </a:solidFill>
                          <a:latin typeface="Calibri"/>
                        </a:rPr>
                        <a:t>0.317</a:t>
                      </a:r>
                    </a:p>
                  </a:txBody>
                  <a:tcPr marL="73152" marR="73152" anchor="ctr">
                    <a:solidFill>
                      <a:srgbClr val="F9FAFB"/>
                    </a:solidFill>
                  </a:tcPr>
                </a:tc>
                <a:tc>
                  <a:txBody>
                    <a:bodyPr/>
                    <a:lstStyle/>
                    <a:p>
                      <a:pPr algn="ctr"/>
                      <a:r>
                        <a:rPr sz="1700" b="0">
                          <a:solidFill>
                            <a:srgbClr val="222222"/>
                          </a:solidFill>
                          <a:latin typeface="Calibri"/>
                        </a:rPr>
                        <a:t>0.349</a:t>
                      </a:r>
                    </a:p>
                  </a:txBody>
                  <a:tcPr marL="73152" marR="73152" anchor="ctr">
                    <a:solidFill>
                      <a:srgbClr val="F9FAFB"/>
                    </a:solidFill>
                  </a:tcPr>
                </a:tc>
              </a:tr>
              <a:tr h="502920">
                <a:tc>
                  <a:txBody>
                    <a:bodyPr/>
                    <a:lstStyle/>
                    <a:p>
                      <a:pPr algn="l"/>
                      <a:r>
                        <a:rPr sz="1700" b="0">
                          <a:solidFill>
                            <a:srgbClr val="222222"/>
                          </a:solidFill>
                          <a:latin typeface="Calibri"/>
                        </a:rPr>
                        <a:t>BM25</a:t>
                      </a:r>
                    </a:p>
                  </a:txBody>
                  <a:tcPr marL="73152" marR="73152" anchor="ctr">
                    <a:solidFill>
                      <a:srgbClr val="FFFFFF"/>
                    </a:solidFill>
                  </a:tcPr>
                </a:tc>
                <a:tc>
                  <a:txBody>
                    <a:bodyPr/>
                    <a:lstStyle/>
                    <a:p>
                      <a:pPr algn="ctr"/>
                      <a:r>
                        <a:rPr sz="1700" b="0">
                          <a:solidFill>
                            <a:srgbClr val="222222"/>
                          </a:solidFill>
                          <a:latin typeface="Calibri"/>
                        </a:rPr>
                        <a:t>0.049</a:t>
                      </a:r>
                    </a:p>
                  </a:txBody>
                  <a:tcPr marL="73152" marR="73152" anchor="ctr">
                    <a:solidFill>
                      <a:srgbClr val="FFFFFF"/>
                    </a:solidFill>
                  </a:tcPr>
                </a:tc>
                <a:tc>
                  <a:txBody>
                    <a:bodyPr/>
                    <a:lstStyle/>
                    <a:p>
                      <a:pPr algn="ctr"/>
                      <a:r>
                        <a:rPr sz="1700" b="0">
                          <a:solidFill>
                            <a:srgbClr val="222222"/>
                          </a:solidFill>
                          <a:latin typeface="Calibri"/>
                        </a:rPr>
                        <a:t>0.493</a:t>
                      </a:r>
                    </a:p>
                  </a:txBody>
                  <a:tcPr marL="73152" marR="73152" anchor="ctr">
                    <a:solidFill>
                      <a:srgbClr val="FFFFFF"/>
                    </a:solidFill>
                  </a:tcPr>
                </a:tc>
                <a:tc>
                  <a:txBody>
                    <a:bodyPr/>
                    <a:lstStyle/>
                    <a:p>
                      <a:pPr algn="ctr"/>
                      <a:r>
                        <a:rPr sz="1700" b="0">
                          <a:solidFill>
                            <a:srgbClr val="222222"/>
                          </a:solidFill>
                          <a:latin typeface="Calibri"/>
                        </a:rPr>
                        <a:t>0.710</a:t>
                      </a:r>
                    </a:p>
                  </a:txBody>
                  <a:tcPr marL="73152" marR="73152" anchor="ctr">
                    <a:solidFill>
                      <a:srgbClr val="FFFFFF"/>
                    </a:solidFill>
                  </a:tcPr>
                </a:tc>
                <a:tc>
                  <a:txBody>
                    <a:bodyPr/>
                    <a:lstStyle/>
                    <a:p>
                      <a:pPr algn="ctr"/>
                      <a:r>
                        <a:rPr sz="1700" b="0">
                          <a:solidFill>
                            <a:srgbClr val="222222"/>
                          </a:solidFill>
                          <a:latin typeface="Calibri"/>
                        </a:rPr>
                        <a:t>0.323</a:t>
                      </a:r>
                    </a:p>
                  </a:txBody>
                  <a:tcPr marL="73152" marR="73152" anchor="ctr">
                    <a:solidFill>
                      <a:srgbClr val="FFFFFF"/>
                    </a:solidFill>
                  </a:tcPr>
                </a:tc>
                <a:tc>
                  <a:txBody>
                    <a:bodyPr/>
                    <a:lstStyle/>
                    <a:p>
                      <a:pPr algn="ctr"/>
                      <a:r>
                        <a:rPr sz="1700" b="0">
                          <a:solidFill>
                            <a:srgbClr val="222222"/>
                          </a:solidFill>
                          <a:latin typeface="Calibri"/>
                        </a:rPr>
                        <a:t>0.356</a:t>
                      </a:r>
                    </a:p>
                  </a:txBody>
                  <a:tcPr marL="73152" marR="73152" anchor="ctr">
                    <a:solidFill>
                      <a:srgbClr val="FFFFFF"/>
                    </a:solidFill>
                  </a:tcPr>
                </a:tc>
              </a:tr>
              <a:tr h="502920">
                <a:tc>
                  <a:txBody>
                    <a:bodyPr/>
                    <a:lstStyle/>
                    <a:p>
                      <a:pPr algn="l"/>
                      <a:r>
                        <a:rPr sz="1700" b="0">
                          <a:solidFill>
                            <a:srgbClr val="222222"/>
                          </a:solidFill>
                          <a:latin typeface="Calibri"/>
                        </a:rPr>
                        <a:t>Sentence Transformer</a:t>
                      </a:r>
                    </a:p>
                  </a:txBody>
                  <a:tcPr marL="73152" marR="73152" anchor="ctr">
                    <a:solidFill>
                      <a:srgbClr val="F9FAFB"/>
                    </a:solidFill>
                  </a:tcPr>
                </a:tc>
                <a:tc>
                  <a:txBody>
                    <a:bodyPr/>
                    <a:lstStyle/>
                    <a:p>
                      <a:pPr algn="ctr"/>
                      <a:r>
                        <a:rPr sz="1700" b="0">
                          <a:solidFill>
                            <a:srgbClr val="222222"/>
                          </a:solidFill>
                          <a:latin typeface="Calibri"/>
                        </a:rPr>
                        <a:t>0.037</a:t>
                      </a:r>
                    </a:p>
                  </a:txBody>
                  <a:tcPr marL="73152" marR="73152" anchor="ctr">
                    <a:solidFill>
                      <a:srgbClr val="F9FAFB"/>
                    </a:solidFill>
                  </a:tcPr>
                </a:tc>
                <a:tc>
                  <a:txBody>
                    <a:bodyPr/>
                    <a:lstStyle/>
                    <a:p>
                      <a:pPr algn="ctr"/>
                      <a:r>
                        <a:rPr sz="1700" b="0">
                          <a:solidFill>
                            <a:srgbClr val="222222"/>
                          </a:solidFill>
                          <a:latin typeface="Calibri"/>
                        </a:rPr>
                        <a:t>0.373</a:t>
                      </a:r>
                    </a:p>
                  </a:txBody>
                  <a:tcPr marL="73152" marR="73152" anchor="ctr">
                    <a:solidFill>
                      <a:srgbClr val="F9FAFB"/>
                    </a:solidFill>
                  </a:tcPr>
                </a:tc>
                <a:tc>
                  <a:txBody>
                    <a:bodyPr/>
                    <a:lstStyle/>
                    <a:p>
                      <a:pPr algn="ctr"/>
                      <a:r>
                        <a:rPr sz="1700" b="0">
                          <a:solidFill>
                            <a:srgbClr val="222222"/>
                          </a:solidFill>
                          <a:latin typeface="Calibri"/>
                        </a:rPr>
                        <a:t>0.605</a:t>
                      </a:r>
                    </a:p>
                  </a:txBody>
                  <a:tcPr marL="73152" marR="73152" anchor="ctr">
                    <a:solidFill>
                      <a:srgbClr val="F9FAFB"/>
                    </a:solidFill>
                  </a:tcPr>
                </a:tc>
                <a:tc>
                  <a:txBody>
                    <a:bodyPr/>
                    <a:lstStyle/>
                    <a:p>
                      <a:pPr algn="ctr"/>
                      <a:r>
                        <a:rPr sz="1700" b="0">
                          <a:solidFill>
                            <a:srgbClr val="222222"/>
                          </a:solidFill>
                          <a:latin typeface="Calibri"/>
                        </a:rPr>
                        <a:t>0.234</a:t>
                      </a:r>
                    </a:p>
                  </a:txBody>
                  <a:tcPr marL="73152" marR="73152" anchor="ctr">
                    <a:solidFill>
                      <a:srgbClr val="F9FAFB"/>
                    </a:solidFill>
                  </a:tcPr>
                </a:tc>
                <a:tc>
                  <a:txBody>
                    <a:bodyPr/>
                    <a:lstStyle/>
                    <a:p>
                      <a:pPr algn="ctr"/>
                      <a:r>
                        <a:rPr sz="1700" b="0">
                          <a:solidFill>
                            <a:srgbClr val="222222"/>
                          </a:solidFill>
                          <a:latin typeface="Calibri"/>
                        </a:rPr>
                        <a:t>0.260</a:t>
                      </a:r>
                    </a:p>
                  </a:txBody>
                  <a:tcPr marL="73152" marR="73152" anchor="ctr">
                    <a:solidFill>
                      <a:srgbClr val="F9FAFB"/>
                    </a:solidFill>
                  </a:tcPr>
                </a:tc>
              </a:tr>
              <a:tr h="502920">
                <a:tc>
                  <a:txBody>
                    <a:bodyPr/>
                    <a:lstStyle/>
                    <a:p>
                      <a:pPr algn="l"/>
                      <a:r>
                        <a:rPr sz="1700" b="0">
                          <a:solidFill>
                            <a:srgbClr val="222222"/>
                          </a:solidFill>
                          <a:latin typeface="Calibri"/>
                        </a:rPr>
                        <a:t>Hybrid RRF (k = 60, standard)</a:t>
                      </a:r>
                    </a:p>
                  </a:txBody>
                  <a:tcPr marL="73152" marR="73152" anchor="ctr">
                    <a:solidFill>
                      <a:srgbClr val="FFFFFF"/>
                    </a:solidFill>
                  </a:tcPr>
                </a:tc>
                <a:tc>
                  <a:txBody>
                    <a:bodyPr/>
                    <a:lstStyle/>
                    <a:p>
                      <a:pPr algn="ctr"/>
                      <a:r>
                        <a:rPr sz="1700" b="0">
                          <a:solidFill>
                            <a:srgbClr val="222222"/>
                          </a:solidFill>
                          <a:latin typeface="Calibri"/>
                        </a:rPr>
                        <a:t>0.052</a:t>
                      </a:r>
                    </a:p>
                  </a:txBody>
                  <a:tcPr marL="73152" marR="73152" anchor="ctr">
                    <a:solidFill>
                      <a:srgbClr val="FFFFFF"/>
                    </a:solidFill>
                  </a:tcPr>
                </a:tc>
                <a:tc>
                  <a:txBody>
                    <a:bodyPr/>
                    <a:lstStyle/>
                    <a:p>
                      <a:pPr algn="ctr"/>
                      <a:r>
                        <a:rPr sz="1700" b="0">
                          <a:solidFill>
                            <a:srgbClr val="222222"/>
                          </a:solidFill>
                          <a:latin typeface="Calibri"/>
                        </a:rPr>
                        <a:t>0.521</a:t>
                      </a:r>
                    </a:p>
                  </a:txBody>
                  <a:tcPr marL="73152" marR="73152" anchor="ctr">
                    <a:solidFill>
                      <a:srgbClr val="FFFFFF"/>
                    </a:solidFill>
                  </a:tcPr>
                </a:tc>
                <a:tc>
                  <a:txBody>
                    <a:bodyPr/>
                    <a:lstStyle/>
                    <a:p>
                      <a:pPr algn="ctr"/>
                      <a:r>
                        <a:rPr sz="1700" b="0">
                          <a:solidFill>
                            <a:srgbClr val="222222"/>
                          </a:solidFill>
                          <a:latin typeface="Calibri"/>
                        </a:rPr>
                        <a:t>0.761</a:t>
                      </a:r>
                    </a:p>
                  </a:txBody>
                  <a:tcPr marL="73152" marR="73152" anchor="ctr">
                    <a:solidFill>
                      <a:srgbClr val="FFFFFF"/>
                    </a:solidFill>
                  </a:tcPr>
                </a:tc>
                <a:tc>
                  <a:txBody>
                    <a:bodyPr/>
                    <a:lstStyle/>
                    <a:p>
                      <a:pPr algn="ctr"/>
                      <a:r>
                        <a:rPr sz="1700" b="0">
                          <a:solidFill>
                            <a:srgbClr val="222222"/>
                          </a:solidFill>
                          <a:latin typeface="Calibri"/>
                        </a:rPr>
                        <a:t>0.328</a:t>
                      </a:r>
                    </a:p>
                  </a:txBody>
                  <a:tcPr marL="73152" marR="73152" anchor="ctr">
                    <a:solidFill>
                      <a:srgbClr val="FFFFFF"/>
                    </a:solidFill>
                  </a:tcPr>
                </a:tc>
                <a:tc>
                  <a:txBody>
                    <a:bodyPr/>
                    <a:lstStyle/>
                    <a:p>
                      <a:pPr algn="ctr"/>
                      <a:r>
                        <a:rPr sz="1700" b="0">
                          <a:solidFill>
                            <a:srgbClr val="222222"/>
                          </a:solidFill>
                          <a:latin typeface="Calibri"/>
                        </a:rPr>
                        <a:t>0.365</a:t>
                      </a:r>
                    </a:p>
                  </a:txBody>
                  <a:tcPr marL="73152" marR="73152" anchor="ctr">
                    <a:solidFill>
                      <a:srgbClr val="FFFFFF"/>
                    </a:solidFill>
                  </a:tcPr>
                </a:tc>
              </a:tr>
              <a:tr h="502920">
                <a:tc>
                  <a:txBody>
                    <a:bodyPr/>
                    <a:lstStyle/>
                    <a:p>
                      <a:pPr algn="l"/>
                      <a:r>
                        <a:rPr sz="1700" b="1">
                          <a:solidFill>
                            <a:srgbClr val="222222"/>
                          </a:solidFill>
                          <a:latin typeface="Calibri"/>
                        </a:rPr>
                        <a:t>Hybrid RRF (k = 1, tuned on validation)</a:t>
                      </a:r>
                    </a:p>
                  </a:txBody>
                  <a:tcPr marL="73152" marR="73152" anchor="ctr">
                    <a:solidFill>
                      <a:srgbClr val="E6F2F2"/>
                    </a:solidFill>
                  </a:tcPr>
                </a:tc>
                <a:tc>
                  <a:txBody>
                    <a:bodyPr/>
                    <a:lstStyle/>
                    <a:p>
                      <a:pPr algn="ctr"/>
                      <a:r>
                        <a:rPr sz="1700" b="1">
                          <a:solidFill>
                            <a:srgbClr val="222222"/>
                          </a:solidFill>
                          <a:latin typeface="Calibri"/>
                        </a:rPr>
                        <a:t>0.053</a:t>
                      </a:r>
                    </a:p>
                  </a:txBody>
                  <a:tcPr marL="73152" marR="73152" anchor="ctr">
                    <a:solidFill>
                      <a:srgbClr val="E6F2F2"/>
                    </a:solidFill>
                  </a:tcPr>
                </a:tc>
                <a:tc>
                  <a:txBody>
                    <a:bodyPr/>
                    <a:lstStyle/>
                    <a:p>
                      <a:pPr algn="ctr"/>
                      <a:r>
                        <a:rPr sz="1700" b="1">
                          <a:solidFill>
                            <a:srgbClr val="222222"/>
                          </a:solidFill>
                          <a:latin typeface="Calibri"/>
                        </a:rPr>
                        <a:t>0.530</a:t>
                      </a:r>
                    </a:p>
                  </a:txBody>
                  <a:tcPr marL="73152" marR="73152" anchor="ctr">
                    <a:solidFill>
                      <a:srgbClr val="E6F2F2"/>
                    </a:solidFill>
                  </a:tcPr>
                </a:tc>
                <a:tc>
                  <a:txBody>
                    <a:bodyPr/>
                    <a:lstStyle/>
                    <a:p>
                      <a:pPr algn="ctr"/>
                      <a:r>
                        <a:rPr sz="1700" b="1">
                          <a:solidFill>
                            <a:srgbClr val="222222"/>
                          </a:solidFill>
                          <a:latin typeface="Calibri"/>
                        </a:rPr>
                        <a:t>0.759</a:t>
                      </a:r>
                    </a:p>
                  </a:txBody>
                  <a:tcPr marL="73152" marR="73152" anchor="ctr">
                    <a:solidFill>
                      <a:srgbClr val="E6F2F2"/>
                    </a:solidFill>
                  </a:tcPr>
                </a:tc>
                <a:tc>
                  <a:txBody>
                    <a:bodyPr/>
                    <a:lstStyle/>
                    <a:p>
                      <a:pPr algn="ctr"/>
                      <a:r>
                        <a:rPr sz="1700" b="1">
                          <a:solidFill>
                            <a:srgbClr val="222222"/>
                          </a:solidFill>
                          <a:latin typeface="Calibri"/>
                        </a:rPr>
                        <a:t>0.342</a:t>
                      </a:r>
                    </a:p>
                  </a:txBody>
                  <a:tcPr marL="73152" marR="73152" anchor="ctr">
                    <a:solidFill>
                      <a:srgbClr val="E6F2F2"/>
                    </a:solidFill>
                  </a:tcPr>
                </a:tc>
                <a:tc>
                  <a:txBody>
                    <a:bodyPr/>
                    <a:lstStyle/>
                    <a:p>
                      <a:pPr algn="ctr"/>
                      <a:r>
                        <a:rPr sz="1700" b="1">
                          <a:solidFill>
                            <a:srgbClr val="222222"/>
                          </a:solidFill>
                          <a:latin typeface="Calibri"/>
                        </a:rPr>
                        <a:t>0.379</a:t>
                      </a:r>
                    </a:p>
                  </a:txBody>
                  <a:tcPr marL="73152" marR="73152" anchor="ctr">
                    <a:solidFill>
                      <a:srgbClr val="E6F2F2"/>
                    </a:solidFill>
                  </a:tcPr>
                </a:tc>
              </a:tr>
            </a:tbl>
          </a:graphicData>
        </a:graphic>
      </p:graphicFrame>
      <p:sp>
        <p:nvSpPr>
          <p:cNvPr id="8" name="TextBox 7"/>
          <p:cNvSpPr txBox="1"/>
          <p:nvPr/>
        </p:nvSpPr>
        <p:spPr>
          <a:xfrm>
            <a:off x="548640" y="4754880"/>
            <a:ext cx="11064240" cy="1463040"/>
          </a:xfrm>
          <a:prstGeom prst="rect">
            <a:avLst/>
          </a:prstGeom>
          <a:noFill/>
        </p:spPr>
        <p:txBody>
          <a:bodyPr wrap="square" anchor="t" lIns="45720" rIns="45720">
            <a:spAutoFit/>
          </a:bodyPr>
          <a:lstStyle/>
          <a:p>
            <a:pPr algn="l">
              <a:spcAft>
                <a:spcPts val="800"/>
              </a:spcAft>
            </a:pPr>
            <a:r>
              <a:rPr sz="1700" b="1">
                <a:solidFill>
                  <a:srgbClr val="1B365D"/>
                </a:solidFill>
                <a:latin typeface="Calibri"/>
              </a:rPr>
              <a:t>BM25 is the strongest single model; </a:t>
            </a:r>
            <a:r>
              <a:rPr sz="1700" b="0">
                <a:solidFill>
                  <a:srgbClr val="222222"/>
                </a:solidFill>
                <a:latin typeface="Calibri"/>
              </a:rPr>
              <a:t>the off-the-shelf dense model is clearly weaker on legal text.</a:t>
            </a:r>
          </a:p>
          <a:p>
            <a:pPr algn="l">
              <a:spcAft>
                <a:spcPts val="800"/>
              </a:spcAft>
            </a:pPr>
            <a:r>
              <a:rPr sz="1700" b="1">
                <a:solidFill>
                  <a:srgbClr val="1B365D"/>
                </a:solidFill>
                <a:latin typeface="Calibri"/>
              </a:rPr>
              <a:t>The hybrid mainly improves recall: </a:t>
            </a:r>
            <a:r>
              <a:rPr sz="1700" b="0">
                <a:solidFill>
                  <a:srgbClr val="222222"/>
                </a:solidFill>
                <a:latin typeface="Calibri"/>
              </a:rPr>
              <a:t>Recall@100 0.710 → 0.761, MAP 0.323 → 0.328 (Wilcoxon p &lt; 0.001 vs BM25).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Precision-Recall graph and Recall@k</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Results</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11 / 17</a:t>
            </a:r>
          </a:p>
        </p:txBody>
      </p:sp>
      <p:pic>
        <p:nvPicPr>
          <p:cNvPr id="7" name="Picture 6" descr="pr_curve.png"/>
          <p:cNvPicPr>
            <a:picLocks noChangeAspect="1"/>
          </p:cNvPicPr>
          <p:nvPr/>
        </p:nvPicPr>
        <p:blipFill>
          <a:blip r:embed="rId3"/>
          <a:stretch>
            <a:fillRect/>
          </a:stretch>
        </p:blipFill>
        <p:spPr>
          <a:xfrm>
            <a:off x="548640" y="1371600"/>
            <a:ext cx="5897880" cy="4480560"/>
          </a:xfrm>
          <a:prstGeom prst="rect">
            <a:avLst/>
          </a:prstGeom>
        </p:spPr>
      </p:pic>
      <p:pic>
        <p:nvPicPr>
          <p:cNvPr id="8" name="Picture 7" descr="recall_at_k.png"/>
          <p:cNvPicPr>
            <a:picLocks noChangeAspect="1"/>
          </p:cNvPicPr>
          <p:nvPr/>
        </p:nvPicPr>
        <p:blipFill>
          <a:blip r:embed="rId4"/>
          <a:stretch>
            <a:fillRect/>
          </a:stretch>
        </p:blipFill>
        <p:spPr>
          <a:xfrm>
            <a:off x="6309360" y="1371600"/>
            <a:ext cx="5748536" cy="44805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Results: the original 5-choice task</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Results</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12 / 17</a:t>
            </a:r>
          </a:p>
        </p:txBody>
      </p:sp>
      <p:pic>
        <p:nvPicPr>
          <p:cNvPr id="7" name="Picture 6" descr="five_choice_accuracy.png"/>
          <p:cNvPicPr>
            <a:picLocks noChangeAspect="1"/>
          </p:cNvPicPr>
          <p:nvPr/>
        </p:nvPicPr>
        <p:blipFill>
          <a:blip r:embed="rId3"/>
          <a:stretch>
            <a:fillRect/>
          </a:stretch>
        </p:blipFill>
        <p:spPr>
          <a:xfrm>
            <a:off x="548640" y="1371600"/>
            <a:ext cx="6675120" cy="3474720"/>
          </a:xfrm>
          <a:prstGeom prst="rect">
            <a:avLst/>
          </a:prstGeom>
        </p:spPr>
      </p:pic>
      <p:sp>
        <p:nvSpPr>
          <p:cNvPr id="8" name="TextBox 7"/>
          <p:cNvSpPr txBox="1"/>
          <p:nvPr/>
        </p:nvSpPr>
        <p:spPr>
          <a:xfrm>
            <a:off x="7589520" y="1554480"/>
            <a:ext cx="4023360" cy="4389120"/>
          </a:xfrm>
          <a:prstGeom prst="rect">
            <a:avLst/>
          </a:prstGeom>
          <a:noFill/>
        </p:spPr>
        <p:txBody>
          <a:bodyPr wrap="square" anchor="t" lIns="45720" rIns="45720">
            <a:spAutoFit/>
          </a:bodyPr>
          <a:lstStyle/>
          <a:p>
            <a:pPr algn="l">
              <a:spcAft>
                <a:spcPts val="1200"/>
              </a:spcAft>
            </a:pPr>
            <a:r>
              <a:rPr sz="1700" b="1">
                <a:solidFill>
                  <a:srgbClr val="1B365D"/>
                </a:solidFill>
                <a:latin typeface="Calibri"/>
              </a:rPr>
              <a:t>Random guess = 0.20</a:t>
            </a:r>
          </a:p>
          <a:p>
            <a:pPr algn="l">
              <a:spcAft>
                <a:spcPts val="1200"/>
              </a:spcAft>
            </a:pPr>
            <a:r>
              <a:rPr sz="1700" b="0">
                <a:solidFill>
                  <a:srgbClr val="222222"/>
                </a:solidFill>
                <a:latin typeface="Calibri"/>
              </a:rPr>
              <a:t>BM25 0.590 beats the 3-way hybrid 0.583 here.</a:t>
            </a:r>
          </a:p>
          <a:p>
            <a:pPr algn="l">
              <a:spcAft>
                <a:spcPts val="1200"/>
              </a:spcAft>
            </a:pPr>
            <a:r>
              <a:rPr sz="1700" b="0">
                <a:solidFill>
                  <a:srgbClr val="222222"/>
                </a:solidFill>
                <a:latin typeface="Calibri"/>
              </a:rPr>
              <a:t>Reason: the wrong options were chosen by TF-IDF similarity, so all five look alike to word matching.</a:t>
            </a:r>
          </a:p>
          <a:p>
            <a:pPr algn="l">
              <a:spcAft>
                <a:spcPts val="1200"/>
              </a:spcAft>
            </a:pPr>
            <a:r>
              <a:rPr sz="1700" b="0">
                <a:solidFill>
                  <a:srgbClr val="222222"/>
                </a:solidFill>
                <a:latin typeface="Calibri"/>
              </a:rPr>
              <a:t>Best: fine-tuned dense model, 0.634.</a:t>
            </a:r>
          </a:p>
          <a:p>
            <a:pPr algn="l">
              <a:spcAft>
                <a:spcPts val="1200"/>
              </a:spcAft>
            </a:pPr>
            <a:r>
              <a:rPr sz="1700" b="1">
                <a:solidFill>
                  <a:srgbClr val="1B365D"/>
                </a:solidFill>
                <a:latin typeface="Calibri"/>
              </a:rPr>
              <a:t>Published reference: </a:t>
            </a:r>
            <a:r>
              <a:rPr sz="1700" b="0">
                <a:solidFill>
                  <a:srgbClr val="222222"/>
                </a:solidFill>
                <a:latin typeface="Calibri"/>
              </a:rPr>
              <a:t>BiLSTM about 0.4 and BERT about 0.6 macro F1 (Zheng et al., different split and metric).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Extensions: fine-tuning helps, a web re-ranker hurts</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Beyond the brief</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13 / 17</a:t>
            </a:r>
          </a:p>
        </p:txBody>
      </p:sp>
      <p:graphicFrame>
        <p:nvGraphicFramePr>
          <p:cNvPr id="7" name="Table 6"/>
          <p:cNvGraphicFramePr>
            <a:graphicFrameLocks noGrp="1"/>
          </p:cNvGraphicFramePr>
          <p:nvPr/>
        </p:nvGraphicFramePr>
        <p:xfrm>
          <a:off x="548640" y="1463040"/>
          <a:ext cx="7315200" cy="3520440"/>
        </p:xfrm>
        <a:graphic>
          <a:graphicData uri="http://schemas.openxmlformats.org/drawingml/2006/table">
            <a:tbl>
              <a:tblPr firstRow="0" bandRow="0">
                <a:tableStyleId>{5940675A-B579-460E-94D1-54222C63F5DA}</a:tableStyleId>
              </a:tblPr>
              <a:tblGrid>
                <a:gridCol w="3200400"/>
                <a:gridCol w="1051560"/>
                <a:gridCol w="1143000"/>
                <a:gridCol w="822960"/>
                <a:gridCol w="1097280"/>
              </a:tblGrid>
              <a:tr h="502920">
                <a:tc>
                  <a:txBody>
                    <a:bodyPr/>
                    <a:lstStyle/>
                    <a:p>
                      <a:pPr algn="l"/>
                      <a:r>
                        <a:rPr sz="1500" b="1">
                          <a:solidFill>
                            <a:srgbClr val="FFFFFF"/>
                          </a:solidFill>
                          <a:latin typeface="Calibri"/>
                        </a:rPr>
                        <a:t>Run (full pool, test)</a:t>
                      </a:r>
                    </a:p>
                  </a:txBody>
                  <a:tcPr marL="73152" marR="73152" anchor="ctr">
                    <a:solidFill>
                      <a:srgbClr val="1B365D"/>
                    </a:solidFill>
                  </a:tcPr>
                </a:tc>
                <a:tc>
                  <a:txBody>
                    <a:bodyPr/>
                    <a:lstStyle/>
                    <a:p>
                      <a:pPr algn="ctr"/>
                      <a:r>
                        <a:rPr sz="1500" b="1">
                          <a:solidFill>
                            <a:srgbClr val="FFFFFF"/>
                          </a:solidFill>
                          <a:latin typeface="Calibri"/>
                        </a:rPr>
                        <a:t>Recall@10</a:t>
                      </a:r>
                    </a:p>
                  </a:txBody>
                  <a:tcPr marL="73152" marR="73152" anchor="ctr">
                    <a:solidFill>
                      <a:srgbClr val="1B365D"/>
                    </a:solidFill>
                  </a:tcPr>
                </a:tc>
                <a:tc>
                  <a:txBody>
                    <a:bodyPr/>
                    <a:lstStyle/>
                    <a:p>
                      <a:pPr algn="ctr"/>
                      <a:r>
                        <a:rPr sz="1500" b="1">
                          <a:solidFill>
                            <a:srgbClr val="FFFFFF"/>
                          </a:solidFill>
                          <a:latin typeface="Calibri"/>
                        </a:rPr>
                        <a:t>Recall@100</a:t>
                      </a:r>
                    </a:p>
                  </a:txBody>
                  <a:tcPr marL="73152" marR="73152" anchor="ctr">
                    <a:solidFill>
                      <a:srgbClr val="1B365D"/>
                    </a:solidFill>
                  </a:tcPr>
                </a:tc>
                <a:tc>
                  <a:txBody>
                    <a:bodyPr/>
                    <a:lstStyle/>
                    <a:p>
                      <a:pPr algn="ctr"/>
                      <a:r>
                        <a:rPr sz="1500" b="1">
                          <a:solidFill>
                            <a:srgbClr val="FFFFFF"/>
                          </a:solidFill>
                          <a:latin typeface="Calibri"/>
                        </a:rPr>
                        <a:t>MAP</a:t>
                      </a:r>
                    </a:p>
                  </a:txBody>
                  <a:tcPr marL="73152" marR="73152" anchor="ctr">
                    <a:solidFill>
                      <a:srgbClr val="1B365D"/>
                    </a:solidFill>
                  </a:tcPr>
                </a:tc>
                <a:tc>
                  <a:txBody>
                    <a:bodyPr/>
                    <a:lstStyle/>
                    <a:p>
                      <a:pPr algn="ctr"/>
                      <a:r>
                        <a:rPr sz="1500" b="1">
                          <a:solidFill>
                            <a:srgbClr val="FFFFFF"/>
                          </a:solidFill>
                          <a:latin typeface="Calibri"/>
                        </a:rPr>
                        <a:t>nDCG@10</a:t>
                      </a:r>
                    </a:p>
                  </a:txBody>
                  <a:tcPr marL="73152" marR="73152" anchor="ctr">
                    <a:solidFill>
                      <a:srgbClr val="1B365D"/>
                    </a:solidFill>
                  </a:tcPr>
                </a:tc>
              </a:tr>
              <a:tr h="502920">
                <a:tc>
                  <a:txBody>
                    <a:bodyPr/>
                    <a:lstStyle/>
                    <a:p>
                      <a:pPr algn="l"/>
                      <a:r>
                        <a:rPr sz="1500" b="0">
                          <a:solidFill>
                            <a:srgbClr val="222222"/>
                          </a:solidFill>
                          <a:latin typeface="Calibri"/>
                        </a:rPr>
                        <a:t>BM25 (reference)</a:t>
                      </a:r>
                    </a:p>
                  </a:txBody>
                  <a:tcPr marL="73152" marR="73152" anchor="ctr">
                    <a:solidFill>
                      <a:srgbClr val="F9FAFB"/>
                    </a:solidFill>
                  </a:tcPr>
                </a:tc>
                <a:tc>
                  <a:txBody>
                    <a:bodyPr/>
                    <a:lstStyle/>
                    <a:p>
                      <a:pPr algn="ctr"/>
                      <a:r>
                        <a:rPr sz="1500" b="0">
                          <a:solidFill>
                            <a:srgbClr val="222222"/>
                          </a:solidFill>
                          <a:latin typeface="Calibri"/>
                        </a:rPr>
                        <a:t>0.493</a:t>
                      </a:r>
                    </a:p>
                  </a:txBody>
                  <a:tcPr marL="73152" marR="73152" anchor="ctr">
                    <a:solidFill>
                      <a:srgbClr val="F9FAFB"/>
                    </a:solidFill>
                  </a:tcPr>
                </a:tc>
                <a:tc>
                  <a:txBody>
                    <a:bodyPr/>
                    <a:lstStyle/>
                    <a:p>
                      <a:pPr algn="ctr"/>
                      <a:r>
                        <a:rPr sz="1500" b="0">
                          <a:solidFill>
                            <a:srgbClr val="222222"/>
                          </a:solidFill>
                          <a:latin typeface="Calibri"/>
                        </a:rPr>
                        <a:t>0.710</a:t>
                      </a:r>
                    </a:p>
                  </a:txBody>
                  <a:tcPr marL="73152" marR="73152" anchor="ctr">
                    <a:solidFill>
                      <a:srgbClr val="F9FAFB"/>
                    </a:solidFill>
                  </a:tcPr>
                </a:tc>
                <a:tc>
                  <a:txBody>
                    <a:bodyPr/>
                    <a:lstStyle/>
                    <a:p>
                      <a:pPr algn="ctr"/>
                      <a:r>
                        <a:rPr sz="1500" b="0">
                          <a:solidFill>
                            <a:srgbClr val="222222"/>
                          </a:solidFill>
                          <a:latin typeface="Calibri"/>
                        </a:rPr>
                        <a:t>0.323</a:t>
                      </a:r>
                    </a:p>
                  </a:txBody>
                  <a:tcPr marL="73152" marR="73152" anchor="ctr">
                    <a:solidFill>
                      <a:srgbClr val="F9FAFB"/>
                    </a:solidFill>
                  </a:tcPr>
                </a:tc>
                <a:tc>
                  <a:txBody>
                    <a:bodyPr/>
                    <a:lstStyle/>
                    <a:p>
                      <a:pPr algn="ctr"/>
                      <a:r>
                        <a:rPr sz="1500" b="0">
                          <a:solidFill>
                            <a:srgbClr val="222222"/>
                          </a:solidFill>
                          <a:latin typeface="Calibri"/>
                        </a:rPr>
                        <a:t>0.356</a:t>
                      </a:r>
                    </a:p>
                  </a:txBody>
                  <a:tcPr marL="73152" marR="73152" anchor="ctr">
                    <a:solidFill>
                      <a:srgbClr val="F9FAFB"/>
                    </a:solidFill>
                  </a:tcPr>
                </a:tc>
              </a:tr>
              <a:tr h="502920">
                <a:tc>
                  <a:txBody>
                    <a:bodyPr/>
                    <a:lstStyle/>
                    <a:p>
                      <a:pPr algn="l"/>
                      <a:r>
                        <a:rPr sz="1500" b="0">
                          <a:solidFill>
                            <a:srgbClr val="222222"/>
                          </a:solidFill>
                          <a:latin typeface="Calibri"/>
                        </a:rPr>
                        <a:t>Hybrid RRF (TF-IDF + BM25 + Dense)</a:t>
                      </a:r>
                    </a:p>
                  </a:txBody>
                  <a:tcPr marL="73152" marR="73152" anchor="ctr">
                    <a:solidFill>
                      <a:srgbClr val="FFFFFF"/>
                    </a:solidFill>
                  </a:tcPr>
                </a:tc>
                <a:tc>
                  <a:txBody>
                    <a:bodyPr/>
                    <a:lstStyle/>
                    <a:p>
                      <a:pPr algn="ctr"/>
                      <a:r>
                        <a:rPr sz="1500" b="0">
                          <a:solidFill>
                            <a:srgbClr val="222222"/>
                          </a:solidFill>
                          <a:latin typeface="Calibri"/>
                        </a:rPr>
                        <a:t>0.521</a:t>
                      </a:r>
                    </a:p>
                  </a:txBody>
                  <a:tcPr marL="73152" marR="73152" anchor="ctr">
                    <a:solidFill>
                      <a:srgbClr val="FFFFFF"/>
                    </a:solidFill>
                  </a:tcPr>
                </a:tc>
                <a:tc>
                  <a:txBody>
                    <a:bodyPr/>
                    <a:lstStyle/>
                    <a:p>
                      <a:pPr algn="ctr"/>
                      <a:r>
                        <a:rPr sz="1500" b="0">
                          <a:solidFill>
                            <a:srgbClr val="222222"/>
                          </a:solidFill>
                          <a:latin typeface="Calibri"/>
                        </a:rPr>
                        <a:t>0.761</a:t>
                      </a:r>
                    </a:p>
                  </a:txBody>
                  <a:tcPr marL="73152" marR="73152" anchor="ctr">
                    <a:solidFill>
                      <a:srgbClr val="FFFFFF"/>
                    </a:solidFill>
                  </a:tcPr>
                </a:tc>
                <a:tc>
                  <a:txBody>
                    <a:bodyPr/>
                    <a:lstStyle/>
                    <a:p>
                      <a:pPr algn="ctr"/>
                      <a:r>
                        <a:rPr sz="1500" b="0">
                          <a:solidFill>
                            <a:srgbClr val="222222"/>
                          </a:solidFill>
                          <a:latin typeface="Calibri"/>
                        </a:rPr>
                        <a:t>0.328</a:t>
                      </a:r>
                    </a:p>
                  </a:txBody>
                  <a:tcPr marL="73152" marR="73152" anchor="ctr">
                    <a:solidFill>
                      <a:srgbClr val="FFFFFF"/>
                    </a:solidFill>
                  </a:tcPr>
                </a:tc>
                <a:tc>
                  <a:txBody>
                    <a:bodyPr/>
                    <a:lstStyle/>
                    <a:p>
                      <a:pPr algn="ctr"/>
                      <a:r>
                        <a:rPr sz="1500" b="0">
                          <a:solidFill>
                            <a:srgbClr val="222222"/>
                          </a:solidFill>
                          <a:latin typeface="Calibri"/>
                        </a:rPr>
                        <a:t>0.365</a:t>
                      </a:r>
                    </a:p>
                  </a:txBody>
                  <a:tcPr marL="73152" marR="73152" anchor="ctr">
                    <a:solidFill>
                      <a:srgbClr val="FFFFFF"/>
                    </a:solidFill>
                  </a:tcPr>
                </a:tc>
              </a:tr>
              <a:tr h="502920">
                <a:tc>
                  <a:txBody>
                    <a:bodyPr/>
                    <a:lstStyle/>
                    <a:p>
                      <a:pPr algn="l"/>
                      <a:r>
                        <a:rPr sz="1500" b="0">
                          <a:solidFill>
                            <a:srgbClr val="222222"/>
                          </a:solidFill>
                          <a:latin typeface="Calibri"/>
                        </a:rPr>
                        <a:t>Hybrid + ms-marco cross-encoder</a:t>
                      </a:r>
                    </a:p>
                  </a:txBody>
                  <a:tcPr marL="73152" marR="73152" anchor="ctr">
                    <a:solidFill>
                      <a:srgbClr val="F9FAFB"/>
                    </a:solidFill>
                  </a:tcPr>
                </a:tc>
                <a:tc>
                  <a:txBody>
                    <a:bodyPr/>
                    <a:lstStyle/>
                    <a:p>
                      <a:pPr algn="ctr"/>
                      <a:r>
                        <a:rPr sz="1500" b="0">
                          <a:solidFill>
                            <a:srgbClr val="222222"/>
                          </a:solidFill>
                          <a:latin typeface="Calibri"/>
                        </a:rPr>
                        <a:t>0.407</a:t>
                      </a:r>
                    </a:p>
                  </a:txBody>
                  <a:tcPr marL="73152" marR="73152" anchor="ctr">
                    <a:solidFill>
                      <a:srgbClr val="F9FAFB"/>
                    </a:solidFill>
                  </a:tcPr>
                </a:tc>
                <a:tc>
                  <a:txBody>
                    <a:bodyPr/>
                    <a:lstStyle/>
                    <a:p>
                      <a:pPr algn="ctr"/>
                      <a:r>
                        <a:rPr sz="1500" b="0">
                          <a:solidFill>
                            <a:srgbClr val="222222"/>
                          </a:solidFill>
                          <a:latin typeface="Calibri"/>
                        </a:rPr>
                        <a:t>0.761</a:t>
                      </a:r>
                    </a:p>
                  </a:txBody>
                  <a:tcPr marL="73152" marR="73152" anchor="ctr">
                    <a:solidFill>
                      <a:srgbClr val="F9FAFB"/>
                    </a:solidFill>
                  </a:tcPr>
                </a:tc>
                <a:tc>
                  <a:txBody>
                    <a:bodyPr/>
                    <a:lstStyle/>
                    <a:p>
                      <a:pPr algn="ctr"/>
                      <a:r>
                        <a:rPr sz="1500" b="0">
                          <a:solidFill>
                            <a:srgbClr val="222222"/>
                          </a:solidFill>
                          <a:latin typeface="Calibri"/>
                        </a:rPr>
                        <a:t>0.196</a:t>
                      </a:r>
                    </a:p>
                  </a:txBody>
                  <a:tcPr marL="73152" marR="73152" anchor="ctr">
                    <a:solidFill>
                      <a:srgbClr val="F9FAFB"/>
                    </a:solidFill>
                  </a:tcPr>
                </a:tc>
                <a:tc>
                  <a:txBody>
                    <a:bodyPr/>
                    <a:lstStyle/>
                    <a:p>
                      <a:pPr algn="ctr"/>
                      <a:r>
                        <a:rPr sz="1500" b="0">
                          <a:solidFill>
                            <a:srgbClr val="222222"/>
                          </a:solidFill>
                          <a:latin typeface="Calibri"/>
                        </a:rPr>
                        <a:t>0.231</a:t>
                      </a:r>
                    </a:p>
                  </a:txBody>
                  <a:tcPr marL="73152" marR="73152" anchor="ctr">
                    <a:solidFill>
                      <a:srgbClr val="F9FAFB"/>
                    </a:solidFill>
                  </a:tcPr>
                </a:tc>
              </a:tr>
              <a:tr h="502920">
                <a:tc>
                  <a:txBody>
                    <a:bodyPr/>
                    <a:lstStyle/>
                    <a:p>
                      <a:pPr algn="l"/>
                      <a:r>
                        <a:rPr sz="1500" b="0">
                          <a:solidFill>
                            <a:srgbClr val="222222"/>
                          </a:solidFill>
                          <a:latin typeface="Calibri"/>
                        </a:rPr>
                        <a:t>Sentence Transformer (base)</a:t>
                      </a:r>
                    </a:p>
                  </a:txBody>
                  <a:tcPr marL="73152" marR="73152" anchor="ctr">
                    <a:solidFill>
                      <a:srgbClr val="FFFFFF"/>
                    </a:solidFill>
                  </a:tcPr>
                </a:tc>
                <a:tc>
                  <a:txBody>
                    <a:bodyPr/>
                    <a:lstStyle/>
                    <a:p>
                      <a:pPr algn="ctr"/>
                      <a:r>
                        <a:rPr sz="1500" b="0">
                          <a:solidFill>
                            <a:srgbClr val="222222"/>
                          </a:solidFill>
                          <a:latin typeface="Calibri"/>
                        </a:rPr>
                        <a:t>0.373</a:t>
                      </a:r>
                    </a:p>
                  </a:txBody>
                  <a:tcPr marL="73152" marR="73152" anchor="ctr">
                    <a:solidFill>
                      <a:srgbClr val="FFFFFF"/>
                    </a:solidFill>
                  </a:tcPr>
                </a:tc>
                <a:tc>
                  <a:txBody>
                    <a:bodyPr/>
                    <a:lstStyle/>
                    <a:p>
                      <a:pPr algn="ctr"/>
                      <a:r>
                        <a:rPr sz="1500" b="0">
                          <a:solidFill>
                            <a:srgbClr val="222222"/>
                          </a:solidFill>
                          <a:latin typeface="Calibri"/>
                        </a:rPr>
                        <a:t>0.605</a:t>
                      </a:r>
                    </a:p>
                  </a:txBody>
                  <a:tcPr marL="73152" marR="73152" anchor="ctr">
                    <a:solidFill>
                      <a:srgbClr val="FFFFFF"/>
                    </a:solidFill>
                  </a:tcPr>
                </a:tc>
                <a:tc>
                  <a:txBody>
                    <a:bodyPr/>
                    <a:lstStyle/>
                    <a:p>
                      <a:pPr algn="ctr"/>
                      <a:r>
                        <a:rPr sz="1500" b="0">
                          <a:solidFill>
                            <a:srgbClr val="222222"/>
                          </a:solidFill>
                          <a:latin typeface="Calibri"/>
                        </a:rPr>
                        <a:t>0.234</a:t>
                      </a:r>
                    </a:p>
                  </a:txBody>
                  <a:tcPr marL="73152" marR="73152" anchor="ctr">
                    <a:solidFill>
                      <a:srgbClr val="FFFFFF"/>
                    </a:solidFill>
                  </a:tcPr>
                </a:tc>
                <a:tc>
                  <a:txBody>
                    <a:bodyPr/>
                    <a:lstStyle/>
                    <a:p>
                      <a:pPr algn="ctr"/>
                      <a:r>
                        <a:rPr sz="1500" b="0">
                          <a:solidFill>
                            <a:srgbClr val="222222"/>
                          </a:solidFill>
                          <a:latin typeface="Calibri"/>
                        </a:rPr>
                        <a:t>0.260</a:t>
                      </a:r>
                    </a:p>
                  </a:txBody>
                  <a:tcPr marL="73152" marR="73152" anchor="ctr">
                    <a:solidFill>
                      <a:srgbClr val="FFFFFF"/>
                    </a:solidFill>
                  </a:tcPr>
                </a:tc>
              </a:tr>
              <a:tr h="502920">
                <a:tc>
                  <a:txBody>
                    <a:bodyPr/>
                    <a:lstStyle/>
                    <a:p>
                      <a:pPr algn="l"/>
                      <a:r>
                        <a:rPr sz="1500" b="0">
                          <a:solidFill>
                            <a:srgbClr val="222222"/>
                          </a:solidFill>
                          <a:latin typeface="Calibri"/>
                        </a:rPr>
                        <a:t>Sentence Transformer, fine-tuned</a:t>
                      </a:r>
                    </a:p>
                  </a:txBody>
                  <a:tcPr marL="73152" marR="73152" anchor="ctr">
                    <a:solidFill>
                      <a:srgbClr val="F9FAFB"/>
                    </a:solidFill>
                  </a:tcPr>
                </a:tc>
                <a:tc>
                  <a:txBody>
                    <a:bodyPr/>
                    <a:lstStyle/>
                    <a:p>
                      <a:pPr algn="ctr"/>
                      <a:r>
                        <a:rPr sz="1500" b="0">
                          <a:solidFill>
                            <a:srgbClr val="222222"/>
                          </a:solidFill>
                          <a:latin typeface="Calibri"/>
                        </a:rPr>
                        <a:t>0.575</a:t>
                      </a:r>
                    </a:p>
                  </a:txBody>
                  <a:tcPr marL="73152" marR="73152" anchor="ctr">
                    <a:solidFill>
                      <a:srgbClr val="F9FAFB"/>
                    </a:solidFill>
                  </a:tcPr>
                </a:tc>
                <a:tc>
                  <a:txBody>
                    <a:bodyPr/>
                    <a:lstStyle/>
                    <a:p>
                      <a:pPr algn="ctr"/>
                      <a:r>
                        <a:rPr sz="1500" b="0">
                          <a:solidFill>
                            <a:srgbClr val="222222"/>
                          </a:solidFill>
                          <a:latin typeface="Calibri"/>
                        </a:rPr>
                        <a:t>0.797</a:t>
                      </a:r>
                    </a:p>
                  </a:txBody>
                  <a:tcPr marL="73152" marR="73152" anchor="ctr">
                    <a:solidFill>
                      <a:srgbClr val="F9FAFB"/>
                    </a:solidFill>
                  </a:tcPr>
                </a:tc>
                <a:tc>
                  <a:txBody>
                    <a:bodyPr/>
                    <a:lstStyle/>
                    <a:p>
                      <a:pPr algn="ctr"/>
                      <a:r>
                        <a:rPr sz="1500" b="0">
                          <a:solidFill>
                            <a:srgbClr val="222222"/>
                          </a:solidFill>
                          <a:latin typeface="Calibri"/>
                        </a:rPr>
                        <a:t>0.389</a:t>
                      </a:r>
                    </a:p>
                  </a:txBody>
                  <a:tcPr marL="73152" marR="73152" anchor="ctr">
                    <a:solidFill>
                      <a:srgbClr val="F9FAFB"/>
                    </a:solidFill>
                  </a:tcPr>
                </a:tc>
                <a:tc>
                  <a:txBody>
                    <a:bodyPr/>
                    <a:lstStyle/>
                    <a:p>
                      <a:pPr algn="ctr"/>
                      <a:r>
                        <a:rPr sz="1500" b="0">
                          <a:solidFill>
                            <a:srgbClr val="222222"/>
                          </a:solidFill>
                          <a:latin typeface="Calibri"/>
                        </a:rPr>
                        <a:t>0.426</a:t>
                      </a:r>
                    </a:p>
                  </a:txBody>
                  <a:tcPr marL="73152" marR="73152" anchor="ctr">
                    <a:solidFill>
                      <a:srgbClr val="F9FAFB"/>
                    </a:solidFill>
                  </a:tcPr>
                </a:tc>
              </a:tr>
              <a:tr h="502920">
                <a:tc>
                  <a:txBody>
                    <a:bodyPr/>
                    <a:lstStyle/>
                    <a:p>
                      <a:pPr algn="l"/>
                      <a:r>
                        <a:rPr sz="1500" b="1">
                          <a:solidFill>
                            <a:srgbClr val="222222"/>
                          </a:solidFill>
                          <a:latin typeface="Calibri"/>
                        </a:rPr>
                        <a:t>Hybrid RRF (BM25 + fine-tuned)</a:t>
                      </a:r>
                    </a:p>
                  </a:txBody>
                  <a:tcPr marL="73152" marR="73152" anchor="ctr">
                    <a:solidFill>
                      <a:srgbClr val="E6F2F2"/>
                    </a:solidFill>
                  </a:tcPr>
                </a:tc>
                <a:tc>
                  <a:txBody>
                    <a:bodyPr/>
                    <a:lstStyle/>
                    <a:p>
                      <a:pPr algn="ctr"/>
                      <a:r>
                        <a:rPr sz="1500" b="1">
                          <a:solidFill>
                            <a:srgbClr val="222222"/>
                          </a:solidFill>
                          <a:latin typeface="Calibri"/>
                        </a:rPr>
                        <a:t>0.597</a:t>
                      </a:r>
                    </a:p>
                  </a:txBody>
                  <a:tcPr marL="73152" marR="73152" anchor="ctr">
                    <a:solidFill>
                      <a:srgbClr val="E6F2F2"/>
                    </a:solidFill>
                  </a:tcPr>
                </a:tc>
                <a:tc>
                  <a:txBody>
                    <a:bodyPr/>
                    <a:lstStyle/>
                    <a:p>
                      <a:pPr algn="ctr"/>
                      <a:r>
                        <a:rPr sz="1500" b="1">
                          <a:solidFill>
                            <a:srgbClr val="222222"/>
                          </a:solidFill>
                          <a:latin typeface="Calibri"/>
                        </a:rPr>
                        <a:t>0.817</a:t>
                      </a:r>
                    </a:p>
                  </a:txBody>
                  <a:tcPr marL="73152" marR="73152" anchor="ctr">
                    <a:solidFill>
                      <a:srgbClr val="E6F2F2"/>
                    </a:solidFill>
                  </a:tcPr>
                </a:tc>
                <a:tc>
                  <a:txBody>
                    <a:bodyPr/>
                    <a:lstStyle/>
                    <a:p>
                      <a:pPr algn="ctr"/>
                      <a:r>
                        <a:rPr sz="1500" b="1">
                          <a:solidFill>
                            <a:srgbClr val="222222"/>
                          </a:solidFill>
                          <a:latin typeface="Calibri"/>
                        </a:rPr>
                        <a:t>0.400</a:t>
                      </a:r>
                    </a:p>
                  </a:txBody>
                  <a:tcPr marL="73152" marR="73152" anchor="ctr">
                    <a:solidFill>
                      <a:srgbClr val="E6F2F2"/>
                    </a:solidFill>
                  </a:tcPr>
                </a:tc>
                <a:tc>
                  <a:txBody>
                    <a:bodyPr/>
                    <a:lstStyle/>
                    <a:p>
                      <a:pPr algn="ctr"/>
                      <a:r>
                        <a:rPr sz="1500" b="1">
                          <a:solidFill>
                            <a:srgbClr val="222222"/>
                          </a:solidFill>
                          <a:latin typeface="Calibri"/>
                        </a:rPr>
                        <a:t>0.440</a:t>
                      </a:r>
                    </a:p>
                  </a:txBody>
                  <a:tcPr marL="73152" marR="73152" anchor="ctr">
                    <a:solidFill>
                      <a:srgbClr val="E6F2F2"/>
                    </a:solidFill>
                  </a:tcPr>
                </a:tc>
              </a:tr>
            </a:tbl>
          </a:graphicData>
        </a:graphic>
      </p:graphicFrame>
      <p:sp>
        <p:nvSpPr>
          <p:cNvPr id="8" name="TextBox 7"/>
          <p:cNvSpPr txBox="1"/>
          <p:nvPr/>
        </p:nvSpPr>
        <p:spPr>
          <a:xfrm>
            <a:off x="8183879" y="1463040"/>
            <a:ext cx="3474720" cy="4754880"/>
          </a:xfrm>
          <a:prstGeom prst="rect">
            <a:avLst/>
          </a:prstGeom>
          <a:noFill/>
        </p:spPr>
        <p:txBody>
          <a:bodyPr wrap="square" anchor="t" lIns="45720" rIns="45720">
            <a:spAutoFit/>
          </a:bodyPr>
          <a:lstStyle/>
          <a:p>
            <a:pPr algn="l">
              <a:spcAft>
                <a:spcPts val="800"/>
              </a:spcAft>
            </a:pPr>
            <a:r>
              <a:rPr sz="1600" b="1">
                <a:solidFill>
                  <a:srgbClr val="1B365D"/>
                </a:solidFill>
                <a:latin typeface="Calibri"/>
              </a:rPr>
              <a:t>Fine-tuning</a:t>
            </a:r>
          </a:p>
          <a:p>
            <a:pPr algn="l">
              <a:spcAft>
                <a:spcPts val="800"/>
              </a:spcAft>
            </a:pPr>
            <a:r>
              <a:rPr sz="1600" b="0">
                <a:solidFill>
                  <a:srgbClr val="222222"/>
                </a:solidFill>
                <a:latin typeface="Calibri"/>
              </a:rPr>
              <a:t>45,000 train pairs, 1 hard negative each, multiple negatives ranking loss, 1 epoch, ~11 min.</a:t>
            </a:r>
          </a:p>
          <a:p>
            <a:pPr algn="l">
              <a:spcAft>
                <a:spcPts val="800"/>
              </a:spcAft>
            </a:pPr>
            <a:r>
              <a:rPr sz="1600" b="1">
                <a:solidFill>
                  <a:srgbClr val="1B365D"/>
                </a:solidFill>
                <a:latin typeface="Calibri"/>
              </a:rPr>
              <a:t>Cross-encoder</a:t>
            </a:r>
          </a:p>
          <a:p>
            <a:pPr algn="l">
              <a:spcAft>
                <a:spcPts val="800"/>
              </a:spcAft>
            </a:pPr>
            <a:r>
              <a:rPr sz="1600" b="0">
                <a:solidFill>
                  <a:srgbClr val="222222"/>
                </a:solidFill>
                <a:latin typeface="Calibri"/>
              </a:rPr>
              <a:t>ms-marco-MiniLM re-scores the top 20. Trained on web search, so it does not transfer to legal text.</a:t>
            </a:r>
          </a:p>
          <a:p>
            <a:pPr algn="l">
              <a:spcAft>
                <a:spcPts val="800"/>
              </a:spcAft>
            </a:pPr>
            <a:r>
              <a:rPr sz="1600" b="1">
                <a:solidFill>
                  <a:srgbClr val="008080"/>
                </a:solidFill>
                <a:latin typeface="Calibri"/>
              </a:rPr>
              <a:t>Takeaway</a:t>
            </a:r>
          </a:p>
          <a:p>
            <a:pPr algn="l">
              <a:spcAft>
                <a:spcPts val="800"/>
              </a:spcAft>
            </a:pPr>
            <a:r>
              <a:rPr sz="1600" b="0">
                <a:solidFill>
                  <a:srgbClr val="222222"/>
                </a:solidFill>
                <a:latin typeface="Calibri"/>
              </a:rPr>
              <a:t>Domain data mattered more than a bigger or fancier model.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Error analysis: where and why the models fail</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Analysis</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14 / 17</a:t>
            </a:r>
          </a:p>
        </p:txBody>
      </p:sp>
      <p:sp>
        <p:nvSpPr>
          <p:cNvPr id="7" name="TextBox 6"/>
          <p:cNvSpPr txBox="1"/>
          <p:nvPr/>
        </p:nvSpPr>
        <p:spPr>
          <a:xfrm>
            <a:off x="548640" y="1463040"/>
            <a:ext cx="1737360" cy="914400"/>
          </a:xfrm>
          <a:prstGeom prst="rect">
            <a:avLst/>
          </a:prstGeom>
          <a:noFill/>
        </p:spPr>
        <p:txBody>
          <a:bodyPr wrap="square" anchor="ctr" lIns="45720" rIns="45720">
            <a:spAutoFit/>
          </a:bodyPr>
          <a:lstStyle/>
          <a:p>
            <a:pPr algn="l">
              <a:spcAft>
                <a:spcPts val="600"/>
              </a:spcAft>
            </a:pPr>
            <a:r>
              <a:rPr sz="3600" b="1">
                <a:solidFill>
                  <a:srgbClr val="1B365D"/>
                </a:solidFill>
                <a:latin typeface="Calibri"/>
              </a:rPr>
              <a:t>474</a:t>
            </a:r>
          </a:p>
        </p:txBody>
      </p:sp>
      <p:sp>
        <p:nvSpPr>
          <p:cNvPr id="8" name="TextBox 7"/>
          <p:cNvSpPr txBox="1"/>
          <p:nvPr/>
        </p:nvSpPr>
        <p:spPr>
          <a:xfrm>
            <a:off x="2286000" y="1463040"/>
            <a:ext cx="2651760" cy="914400"/>
          </a:xfrm>
          <a:prstGeom prst="rect">
            <a:avLst/>
          </a:prstGeom>
          <a:noFill/>
        </p:spPr>
        <p:txBody>
          <a:bodyPr wrap="square" anchor="ctr" lIns="45720" rIns="45720">
            <a:spAutoFit/>
          </a:bodyPr>
          <a:lstStyle/>
          <a:p>
            <a:pPr algn="l">
              <a:spcAft>
                <a:spcPts val="600"/>
              </a:spcAft>
            </a:pPr>
            <a:r>
              <a:rPr sz="1500" b="0">
                <a:solidFill>
                  <a:srgbClr val="222222"/>
                </a:solidFill>
                <a:latin typeface="Calibri"/>
              </a:rPr>
              <a:t>queries where only BM25 ranks the answer first</a:t>
            </a:r>
          </a:p>
        </p:txBody>
      </p:sp>
      <p:sp>
        <p:nvSpPr>
          <p:cNvPr id="9" name="TextBox 8"/>
          <p:cNvSpPr txBox="1"/>
          <p:nvPr/>
        </p:nvSpPr>
        <p:spPr>
          <a:xfrm>
            <a:off x="548640" y="2651760"/>
            <a:ext cx="1737360" cy="914400"/>
          </a:xfrm>
          <a:prstGeom prst="rect">
            <a:avLst/>
          </a:prstGeom>
          <a:noFill/>
        </p:spPr>
        <p:txBody>
          <a:bodyPr wrap="square" anchor="ctr" lIns="45720" rIns="45720">
            <a:spAutoFit/>
          </a:bodyPr>
          <a:lstStyle/>
          <a:p>
            <a:pPr algn="l">
              <a:spcAft>
                <a:spcPts val="600"/>
              </a:spcAft>
            </a:pPr>
            <a:r>
              <a:rPr sz="3600" b="1">
                <a:solidFill>
                  <a:srgbClr val="1B365D"/>
                </a:solidFill>
                <a:latin typeface="Calibri"/>
              </a:rPr>
              <a:t>204</a:t>
            </a:r>
          </a:p>
        </p:txBody>
      </p:sp>
      <p:sp>
        <p:nvSpPr>
          <p:cNvPr id="10" name="TextBox 9"/>
          <p:cNvSpPr txBox="1"/>
          <p:nvPr/>
        </p:nvSpPr>
        <p:spPr>
          <a:xfrm>
            <a:off x="2286000" y="2651760"/>
            <a:ext cx="2651760" cy="914400"/>
          </a:xfrm>
          <a:prstGeom prst="rect">
            <a:avLst/>
          </a:prstGeom>
          <a:noFill/>
        </p:spPr>
        <p:txBody>
          <a:bodyPr wrap="square" anchor="ctr" lIns="45720" rIns="45720">
            <a:spAutoFit/>
          </a:bodyPr>
          <a:lstStyle/>
          <a:p>
            <a:pPr algn="l">
              <a:spcAft>
                <a:spcPts val="600"/>
              </a:spcAft>
            </a:pPr>
            <a:r>
              <a:rPr sz="1500" b="0">
                <a:solidFill>
                  <a:srgbClr val="222222"/>
                </a:solidFill>
                <a:latin typeface="Calibri"/>
              </a:rPr>
              <a:t>queries where only the dense model does</a:t>
            </a:r>
          </a:p>
        </p:txBody>
      </p:sp>
      <p:sp>
        <p:nvSpPr>
          <p:cNvPr id="11" name="TextBox 10"/>
          <p:cNvSpPr txBox="1"/>
          <p:nvPr/>
        </p:nvSpPr>
        <p:spPr>
          <a:xfrm>
            <a:off x="548640" y="3840480"/>
            <a:ext cx="1737360" cy="914400"/>
          </a:xfrm>
          <a:prstGeom prst="rect">
            <a:avLst/>
          </a:prstGeom>
          <a:noFill/>
        </p:spPr>
        <p:txBody>
          <a:bodyPr wrap="square" anchor="ctr" lIns="45720" rIns="45720">
            <a:spAutoFit/>
          </a:bodyPr>
          <a:lstStyle/>
          <a:p>
            <a:pPr algn="l">
              <a:spcAft>
                <a:spcPts val="600"/>
              </a:spcAft>
            </a:pPr>
            <a:r>
              <a:rPr sz="3600" b="1">
                <a:solidFill>
                  <a:srgbClr val="1B365D"/>
                </a:solidFill>
                <a:latin typeface="Calibri"/>
              </a:rPr>
              <a:t>44%</a:t>
            </a:r>
          </a:p>
        </p:txBody>
      </p:sp>
      <p:sp>
        <p:nvSpPr>
          <p:cNvPr id="12" name="TextBox 11"/>
          <p:cNvSpPr txBox="1"/>
          <p:nvPr/>
        </p:nvSpPr>
        <p:spPr>
          <a:xfrm>
            <a:off x="2286000" y="3840480"/>
            <a:ext cx="2651760" cy="914400"/>
          </a:xfrm>
          <a:prstGeom prst="rect">
            <a:avLst/>
          </a:prstGeom>
          <a:noFill/>
        </p:spPr>
        <p:txBody>
          <a:bodyPr wrap="square" anchor="ctr" lIns="45720" rIns="45720">
            <a:spAutoFit/>
          </a:bodyPr>
          <a:lstStyle/>
          <a:p>
            <a:pPr algn="l">
              <a:spcAft>
                <a:spcPts val="600"/>
              </a:spcAft>
            </a:pPr>
            <a:r>
              <a:rPr sz="1500" b="0">
                <a:solidFill>
                  <a:srgbClr val="222222"/>
                </a:solidFill>
                <a:latin typeface="Calibri"/>
              </a:rPr>
              <a:t>of queries: neither model has it in the top 10</a:t>
            </a:r>
          </a:p>
        </p:txBody>
      </p:sp>
      <p:graphicFrame>
        <p:nvGraphicFramePr>
          <p:cNvPr id="13" name="Table 12"/>
          <p:cNvGraphicFramePr>
            <a:graphicFrameLocks noGrp="1"/>
          </p:cNvGraphicFramePr>
          <p:nvPr/>
        </p:nvGraphicFramePr>
        <p:xfrm>
          <a:off x="5212080" y="1463040"/>
          <a:ext cx="6400800" cy="2743200"/>
        </p:xfrm>
        <a:graphic>
          <a:graphicData uri="http://schemas.openxmlformats.org/drawingml/2006/table">
            <a:tbl>
              <a:tblPr firstRow="0" bandRow="0">
                <a:tableStyleId>{5940675A-B579-460E-94D1-54222C63F5DA}</a:tableStyleId>
              </a:tblPr>
              <a:tblGrid>
                <a:gridCol w="822960"/>
                <a:gridCol w="1005840"/>
                <a:gridCol w="1097280"/>
                <a:gridCol w="3474720"/>
              </a:tblGrid>
              <a:tr h="685800">
                <a:tc>
                  <a:txBody>
                    <a:bodyPr/>
                    <a:lstStyle/>
                    <a:p>
                      <a:pPr algn="l"/>
                      <a:r>
                        <a:rPr sz="1400" b="1">
                          <a:solidFill>
                            <a:srgbClr val="FFFFFF"/>
                          </a:solidFill>
                          <a:latin typeface="Calibri"/>
                        </a:rPr>
                        <a:t>Query</a:t>
                      </a:r>
                    </a:p>
                  </a:txBody>
                  <a:tcPr marL="73152" marR="73152" anchor="ctr">
                    <a:solidFill>
                      <a:srgbClr val="1B365D"/>
                    </a:solidFill>
                  </a:tcPr>
                </a:tc>
                <a:tc>
                  <a:txBody>
                    <a:bodyPr/>
                    <a:lstStyle/>
                    <a:p>
                      <a:pPr algn="ctr"/>
                      <a:r>
                        <a:rPr sz="1400" b="1">
                          <a:solidFill>
                            <a:srgbClr val="FFFFFF"/>
                          </a:solidFill>
                          <a:latin typeface="Calibri"/>
                        </a:rPr>
                        <a:t>BM25 rank</a:t>
                      </a:r>
                    </a:p>
                  </a:txBody>
                  <a:tcPr marL="73152" marR="73152" anchor="ctr">
                    <a:solidFill>
                      <a:srgbClr val="1B365D"/>
                    </a:solidFill>
                  </a:tcPr>
                </a:tc>
                <a:tc>
                  <a:txBody>
                    <a:bodyPr/>
                    <a:lstStyle/>
                    <a:p>
                      <a:pPr algn="ctr"/>
                      <a:r>
                        <a:rPr sz="1400" b="1">
                          <a:solidFill>
                            <a:srgbClr val="FFFFFF"/>
                          </a:solidFill>
                          <a:latin typeface="Calibri"/>
                        </a:rPr>
                        <a:t>Dense rank</a:t>
                      </a:r>
                    </a:p>
                  </a:txBody>
                  <a:tcPr marL="73152" marR="73152" anchor="ctr">
                    <a:solidFill>
                      <a:srgbClr val="1B365D"/>
                    </a:solidFill>
                  </a:tcPr>
                </a:tc>
                <a:tc>
                  <a:txBody>
                    <a:bodyPr/>
                    <a:lstStyle/>
                    <a:p>
                      <a:pPr algn="ctr"/>
                      <a:r>
                        <a:rPr sz="1400" b="1">
                          <a:solidFill>
                            <a:srgbClr val="FFFFFF"/>
                          </a:solidFill>
                          <a:latin typeface="Calibri"/>
                        </a:rPr>
                        <a:t>What happened</a:t>
                      </a:r>
                    </a:p>
                  </a:txBody>
                  <a:tcPr marL="73152" marR="73152" anchor="ctr">
                    <a:solidFill>
                      <a:srgbClr val="1B365D"/>
                    </a:solidFill>
                  </a:tcPr>
                </a:tc>
              </a:tr>
              <a:tr h="685800">
                <a:tc>
                  <a:txBody>
                    <a:bodyPr/>
                    <a:lstStyle/>
                    <a:p>
                      <a:pPr algn="l"/>
                      <a:r>
                        <a:rPr sz="1400" b="0">
                          <a:solidFill>
                            <a:srgbClr val="222222"/>
                          </a:solidFill>
                          <a:latin typeface="Calibri"/>
                        </a:rPr>
                        <a:t>3185</a:t>
                      </a:r>
                    </a:p>
                  </a:txBody>
                  <a:tcPr marL="73152" marR="73152" anchor="ctr">
                    <a:solidFill>
                      <a:srgbClr val="F9FAFB"/>
                    </a:solidFill>
                  </a:tcPr>
                </a:tc>
                <a:tc>
                  <a:txBody>
                    <a:bodyPr/>
                    <a:lstStyle/>
                    <a:p>
                      <a:pPr algn="ctr"/>
                      <a:r>
                        <a:rPr sz="1400" b="0">
                          <a:solidFill>
                            <a:srgbClr val="222222"/>
                          </a:solidFill>
                          <a:latin typeface="Calibri"/>
                        </a:rPr>
                        <a:t>1</a:t>
                      </a:r>
                    </a:p>
                  </a:txBody>
                  <a:tcPr marL="73152" marR="73152" anchor="ctr">
                    <a:solidFill>
                      <a:srgbClr val="F9FAFB"/>
                    </a:solidFill>
                  </a:tcPr>
                </a:tc>
                <a:tc>
                  <a:txBody>
                    <a:bodyPr/>
                    <a:lstStyle/>
                    <a:p>
                      <a:pPr algn="ctr"/>
                      <a:r>
                        <a:rPr sz="1400" b="0">
                          <a:solidFill>
                            <a:srgbClr val="222222"/>
                          </a:solidFill>
                          <a:latin typeface="Calibri"/>
                        </a:rPr>
                        <a:t>129</a:t>
                      </a:r>
                    </a:p>
                  </a:txBody>
                  <a:tcPr marL="73152" marR="73152" anchor="ctr">
                    <a:solidFill>
                      <a:srgbClr val="F9FAFB"/>
                    </a:solidFill>
                  </a:tcPr>
                </a:tc>
                <a:tc>
                  <a:txBody>
                    <a:bodyPr/>
                    <a:lstStyle/>
                    <a:p>
                      <a:pPr algn="ctr"/>
                      <a:r>
                        <a:rPr sz="1400" b="0">
                          <a:solidFill>
                            <a:srgbClr val="222222"/>
                          </a:solidFill>
                          <a:latin typeface="Calibri"/>
                        </a:rPr>
                        <a:t>Rare word “structuring” matched exactly</a:t>
                      </a:r>
                    </a:p>
                  </a:txBody>
                  <a:tcPr marL="73152" marR="73152" anchor="ctr">
                    <a:solidFill>
                      <a:srgbClr val="F9FAFB"/>
                    </a:solidFill>
                  </a:tcPr>
                </a:tc>
              </a:tr>
              <a:tr h="685800">
                <a:tc>
                  <a:txBody>
                    <a:bodyPr/>
                    <a:lstStyle/>
                    <a:p>
                      <a:pPr algn="l"/>
                      <a:r>
                        <a:rPr sz="1400" b="0">
                          <a:solidFill>
                            <a:srgbClr val="222222"/>
                          </a:solidFill>
                          <a:latin typeface="Calibri"/>
                        </a:rPr>
                        <a:t>296</a:t>
                      </a:r>
                    </a:p>
                  </a:txBody>
                  <a:tcPr marL="73152" marR="73152" anchor="ctr">
                    <a:solidFill>
                      <a:srgbClr val="FFFFFF"/>
                    </a:solidFill>
                  </a:tcPr>
                </a:tc>
                <a:tc>
                  <a:txBody>
                    <a:bodyPr/>
                    <a:lstStyle/>
                    <a:p>
                      <a:pPr algn="ctr"/>
                      <a:r>
                        <a:rPr sz="1400" b="0">
                          <a:solidFill>
                            <a:srgbClr val="222222"/>
                          </a:solidFill>
                          <a:latin typeface="Calibri"/>
                        </a:rPr>
                        <a:t>1,694</a:t>
                      </a:r>
                    </a:p>
                  </a:txBody>
                  <a:tcPr marL="73152" marR="73152" anchor="ctr">
                    <a:solidFill>
                      <a:srgbClr val="FFFFFF"/>
                    </a:solidFill>
                  </a:tcPr>
                </a:tc>
                <a:tc>
                  <a:txBody>
                    <a:bodyPr/>
                    <a:lstStyle/>
                    <a:p>
                      <a:pPr algn="ctr"/>
                      <a:r>
                        <a:rPr sz="1400" b="0">
                          <a:solidFill>
                            <a:srgbClr val="222222"/>
                          </a:solidFill>
                          <a:latin typeface="Calibri"/>
                        </a:rPr>
                        <a:t>1</a:t>
                      </a:r>
                    </a:p>
                  </a:txBody>
                  <a:tcPr marL="73152" marR="73152" anchor="ctr">
                    <a:solidFill>
                      <a:srgbClr val="FFFFFF"/>
                    </a:solidFill>
                  </a:tcPr>
                </a:tc>
                <a:tc>
                  <a:txBody>
                    <a:bodyPr/>
                    <a:lstStyle/>
                    <a:p>
                      <a:pPr algn="ctr"/>
                      <a:r>
                        <a:rPr sz="1400" b="0">
                          <a:solidFill>
                            <a:srgbClr val="222222"/>
                          </a:solidFill>
                          <a:latin typeface="Calibri"/>
                        </a:rPr>
                        <a:t>Same meaning, no shared keywords</a:t>
                      </a:r>
                    </a:p>
                  </a:txBody>
                  <a:tcPr marL="73152" marR="73152" anchor="ctr">
                    <a:solidFill>
                      <a:srgbClr val="FFFFFF"/>
                    </a:solidFill>
                  </a:tcPr>
                </a:tc>
              </a:tr>
              <a:tr h="685800">
                <a:tc>
                  <a:txBody>
                    <a:bodyPr/>
                    <a:lstStyle/>
                    <a:p>
                      <a:pPr algn="l"/>
                      <a:r>
                        <a:rPr sz="1400" b="0">
                          <a:solidFill>
                            <a:srgbClr val="222222"/>
                          </a:solidFill>
                          <a:latin typeface="Calibri"/>
                        </a:rPr>
                        <a:t>2885</a:t>
                      </a:r>
                    </a:p>
                  </a:txBody>
                  <a:tcPr marL="73152" marR="73152" anchor="ctr">
                    <a:solidFill>
                      <a:srgbClr val="F9FAFB"/>
                    </a:solidFill>
                  </a:tcPr>
                </a:tc>
                <a:tc>
                  <a:txBody>
                    <a:bodyPr/>
                    <a:lstStyle/>
                    <a:p>
                      <a:pPr algn="ctr"/>
                      <a:r>
                        <a:rPr sz="1400" b="0">
                          <a:solidFill>
                            <a:srgbClr val="222222"/>
                          </a:solidFill>
                          <a:latin typeface="Calibri"/>
                        </a:rPr>
                        <a:t>3,475</a:t>
                      </a:r>
                    </a:p>
                  </a:txBody>
                  <a:tcPr marL="73152" marR="73152" anchor="ctr">
                    <a:solidFill>
                      <a:srgbClr val="F9FAFB"/>
                    </a:solidFill>
                  </a:tcPr>
                </a:tc>
                <a:tc>
                  <a:txBody>
                    <a:bodyPr/>
                    <a:lstStyle/>
                    <a:p>
                      <a:pPr algn="ctr"/>
                      <a:r>
                        <a:rPr sz="1400" b="0">
                          <a:solidFill>
                            <a:srgbClr val="222222"/>
                          </a:solidFill>
                          <a:latin typeface="Calibri"/>
                        </a:rPr>
                        <a:t>6,823</a:t>
                      </a:r>
                    </a:p>
                  </a:txBody>
                  <a:tcPr marL="73152" marR="73152" anchor="ctr">
                    <a:solidFill>
                      <a:srgbClr val="F9FAFB"/>
                    </a:solidFill>
                  </a:tcPr>
                </a:tc>
                <a:tc>
                  <a:txBody>
                    <a:bodyPr/>
                    <a:lstStyle/>
                    <a:p>
                      <a:pPr algn="ctr"/>
                      <a:r>
                        <a:rPr sz="1400" b="0">
                          <a:solidFill>
                            <a:srgbClr val="222222"/>
                          </a:solidFill>
                          <a:latin typeface="Calibri"/>
                        </a:rPr>
                        <a:t>Passage is about a strip search; the cited holding is about court procedure</a:t>
                      </a:r>
                    </a:p>
                  </a:txBody>
                  <a:tcPr marL="73152" marR="73152" anchor="ctr">
                    <a:solidFill>
                      <a:srgbClr val="F9FAFB"/>
                    </a:solidFill>
                  </a:tcPr>
                </a:tc>
              </a:tr>
            </a:tbl>
          </a:graphicData>
        </a:graphic>
      </p:graphicFrame>
      <p:sp>
        <p:nvSpPr>
          <p:cNvPr id="14" name="TextBox 13"/>
          <p:cNvSpPr txBox="1"/>
          <p:nvPr/>
        </p:nvSpPr>
        <p:spPr>
          <a:xfrm>
            <a:off x="548640" y="5166360"/>
            <a:ext cx="11064240" cy="1005840"/>
          </a:xfrm>
          <a:prstGeom prst="rect">
            <a:avLst/>
          </a:prstGeom>
          <a:noFill/>
        </p:spPr>
        <p:txBody>
          <a:bodyPr wrap="square" anchor="t" lIns="45720" rIns="45720">
            <a:spAutoFit/>
          </a:bodyPr>
          <a:lstStyle/>
          <a:p>
            <a:pPr algn="l">
              <a:spcAft>
                <a:spcPts val="600"/>
              </a:spcAft>
            </a:pPr>
            <a:r>
              <a:rPr sz="1700" b="1">
                <a:solidFill>
                  <a:srgbClr val="1B365D"/>
                </a:solidFill>
                <a:latin typeface="Calibri"/>
              </a:rPr>
              <a:t>Longer holdings are easier: </a:t>
            </a:r>
            <a:r>
              <a:rPr sz="1700" b="0">
                <a:solidFill>
                  <a:srgbClr val="222222"/>
                </a:solidFill>
                <a:latin typeface="Calibri"/>
              </a:rPr>
              <a:t>BM25 MRR 0.213 for holdings of 15 words or less vs 0.402 above 40 words.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Search interface (live demo)</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Demo</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15 / 17</a:t>
            </a:r>
          </a:p>
        </p:txBody>
      </p:sp>
      <p:pic>
        <p:nvPicPr>
          <p:cNvPr id="7" name="Picture 6" descr="search_app.png"/>
          <p:cNvPicPr>
            <a:picLocks noChangeAspect="1"/>
          </p:cNvPicPr>
          <p:nvPr/>
        </p:nvPicPr>
        <p:blipFill>
          <a:blip r:embed="rId3"/>
          <a:stretch>
            <a:fillRect/>
          </a:stretch>
        </p:blipFill>
        <p:spPr>
          <a:xfrm>
            <a:off x="548640" y="1325880"/>
            <a:ext cx="6976872" cy="4983480"/>
          </a:xfrm>
          <a:prstGeom prst="rect">
            <a:avLst/>
          </a:prstGeom>
        </p:spPr>
      </p:pic>
      <p:sp>
        <p:nvSpPr>
          <p:cNvPr id="8" name="TextBox 7"/>
          <p:cNvSpPr txBox="1"/>
          <p:nvPr/>
        </p:nvSpPr>
        <p:spPr>
          <a:xfrm>
            <a:off x="7772400" y="1463040"/>
            <a:ext cx="3840480" cy="4754880"/>
          </a:xfrm>
          <a:prstGeom prst="rect">
            <a:avLst/>
          </a:prstGeom>
          <a:noFill/>
        </p:spPr>
        <p:txBody>
          <a:bodyPr wrap="square" anchor="t" lIns="45720" rIns="45720">
            <a:spAutoFit/>
          </a:bodyPr>
          <a:lstStyle/>
          <a:p>
            <a:pPr algn="l">
              <a:spcAft>
                <a:spcPts val="1000"/>
              </a:spcAft>
            </a:pPr>
            <a:r>
              <a:rPr sz="1600" b="1">
                <a:solidFill>
                  <a:srgbClr val="1B365D"/>
                </a:solidFill>
                <a:latin typeface="Calibri"/>
              </a:rPr>
              <a:t>streamlit run app/search_app.py</a:t>
            </a:r>
          </a:p>
          <a:p>
            <a:pPr algn="l">
              <a:spcAft>
                <a:spcPts val="1000"/>
              </a:spcAft>
            </a:pPr>
            <a:r>
              <a:rPr sz="1600" b="0">
                <a:solidFill>
                  <a:srgbClr val="222222"/>
                </a:solidFill>
                <a:latin typeface="Calibri"/>
              </a:rPr>
              <a:t>Pick a test query or type any passage.</a:t>
            </a:r>
          </a:p>
          <a:p>
            <a:pPr algn="l">
              <a:spcAft>
                <a:spcPts val="1000"/>
              </a:spcAft>
            </a:pPr>
            <a:r>
              <a:rPr sz="1600" b="0">
                <a:solidFill>
                  <a:srgbClr val="222222"/>
                </a:solidFill>
                <a:latin typeface="Calibri"/>
              </a:rPr>
              <a:t>Shows the stemmed query terms.</a:t>
            </a:r>
          </a:p>
          <a:p>
            <a:pPr algn="l">
              <a:spcAft>
                <a:spcPts val="1000"/>
              </a:spcAft>
            </a:pPr>
            <a:r>
              <a:rPr sz="1600" b="0">
                <a:solidFill>
                  <a:srgbClr val="222222"/>
                </a:solidFill>
                <a:latin typeface="Calibri"/>
              </a:rPr>
              <a:t>Top results of TF-IDF, BM25, dense and hybrid side by side.</a:t>
            </a:r>
          </a:p>
          <a:p>
            <a:pPr algn="l">
              <a:spcAft>
                <a:spcPts val="1000"/>
              </a:spcAft>
            </a:pPr>
            <a:r>
              <a:rPr sz="1600" b="0">
                <a:solidFill>
                  <a:srgbClr val="222222"/>
                </a:solidFill>
                <a:latin typeface="Calibri"/>
              </a:rPr>
              <a:t>Marks the correct holding when it is known.</a:t>
            </a:r>
          </a:p>
          <a:p>
            <a:pPr algn="l">
              <a:spcAft>
                <a:spcPts val="1000"/>
              </a:spcAft>
            </a:pPr>
            <a:r>
              <a:rPr sz="1600" b="0">
                <a:solidFill>
                  <a:srgbClr val="222222"/>
                </a:solidFill>
                <a:latin typeface="Calibri"/>
              </a:rPr>
              <a:t>Base or fine-tuned dense model from the sidebar.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Conclusion and limitations</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Conclusion</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16 / 17</a:t>
            </a:r>
          </a:p>
        </p:txBody>
      </p:sp>
      <p:sp>
        <p:nvSpPr>
          <p:cNvPr id="7" name="TextBox 6"/>
          <p:cNvSpPr txBox="1"/>
          <p:nvPr/>
        </p:nvSpPr>
        <p:spPr>
          <a:xfrm>
            <a:off x="548640" y="1417320"/>
            <a:ext cx="5486400" cy="457200"/>
          </a:xfrm>
          <a:prstGeom prst="rect">
            <a:avLst/>
          </a:prstGeom>
          <a:noFill/>
        </p:spPr>
        <p:txBody>
          <a:bodyPr wrap="square" anchor="t" lIns="45720" rIns="45720">
            <a:spAutoFit/>
          </a:bodyPr>
          <a:lstStyle/>
          <a:p>
            <a:pPr algn="l">
              <a:spcAft>
                <a:spcPts val="600"/>
              </a:spcAft>
            </a:pPr>
            <a:r>
              <a:rPr sz="2200" b="1">
                <a:solidFill>
                  <a:srgbClr val="1B365D"/>
                </a:solidFill>
                <a:latin typeface="Calibri"/>
              </a:rPr>
              <a:t>What we found</a:t>
            </a:r>
          </a:p>
        </p:txBody>
      </p:sp>
      <p:sp>
        <p:nvSpPr>
          <p:cNvPr id="8" name="TextBox 7"/>
          <p:cNvSpPr txBox="1"/>
          <p:nvPr/>
        </p:nvSpPr>
        <p:spPr>
          <a:xfrm>
            <a:off x="548640" y="1965960"/>
            <a:ext cx="5486400" cy="4114800"/>
          </a:xfrm>
          <a:prstGeom prst="rect">
            <a:avLst/>
          </a:prstGeom>
          <a:noFill/>
        </p:spPr>
        <p:txBody>
          <a:bodyPr wrap="square" anchor="t" lIns="45720" rIns="45720">
            <a:spAutoFit/>
          </a:bodyPr>
          <a:lstStyle/>
          <a:p>
            <a:pPr algn="l">
              <a:spcAft>
                <a:spcPts val="1400"/>
              </a:spcAft>
            </a:pPr>
            <a:r>
              <a:rPr sz="1800" b="0">
                <a:solidFill>
                  <a:srgbClr val="222222"/>
                </a:solidFill>
                <a:latin typeface="Calibri"/>
              </a:rPr>
              <a:t>BM25 (MAP 0.323) beat the off-the-shelf dense model (0.234).</a:t>
            </a:r>
          </a:p>
          <a:p>
            <a:pPr algn="l">
              <a:spcAft>
                <a:spcPts val="1400"/>
              </a:spcAft>
            </a:pPr>
            <a:r>
              <a:rPr sz="1800" b="0">
                <a:solidFill>
                  <a:srgbClr val="222222"/>
                </a:solidFill>
                <a:latin typeface="Calibri"/>
              </a:rPr>
              <a:t>RRF mainly raised recall: Recall@100 0.710 → 0.761.</a:t>
            </a:r>
          </a:p>
          <a:p>
            <a:pPr algn="l">
              <a:spcAft>
                <a:spcPts val="1400"/>
              </a:spcAft>
            </a:pPr>
            <a:r>
              <a:rPr sz="1800" b="0">
                <a:solidFill>
                  <a:srgbClr val="222222"/>
                </a:solidFill>
                <a:latin typeface="Calibri"/>
              </a:rPr>
              <a:t>Fine-tuning on CaseHOLD: dense 0.234 → 0.389; with BM25 0.400, our best.</a:t>
            </a:r>
          </a:p>
          <a:p>
            <a:pPr algn="l">
              <a:spcAft>
                <a:spcPts val="1400"/>
              </a:spcAft>
            </a:pPr>
            <a:r>
              <a:rPr sz="1800" b="0">
                <a:solidFill>
                  <a:srgbClr val="222222"/>
                </a:solidFill>
                <a:latin typeface="Calibri"/>
              </a:rPr>
              <a:t>A web-trained cross-encoder made results worse.</a:t>
            </a:r>
          </a:p>
        </p:txBody>
      </p:sp>
      <p:sp>
        <p:nvSpPr>
          <p:cNvPr id="9" name="Rectangle 8"/>
          <p:cNvSpPr/>
          <p:nvPr/>
        </p:nvSpPr>
        <p:spPr>
          <a:xfrm>
            <a:off x="6309360" y="1417320"/>
            <a:ext cx="5303520" cy="4663440"/>
          </a:xfrm>
          <a:prstGeom prst="rect">
            <a:avLst/>
          </a:prstGeom>
          <a:solidFill>
            <a:srgbClr val="F4F6F8"/>
          </a:solidFill>
          <a:ln>
            <a:noFill/>
          </a:ln>
        </p:spPr>
        <p:txBody>
          <a:bodyPr rtlCol="0" anchor="ctr"/>
          <a:lstStyle/>
          <a:p>
            <a:pPr algn="ctr"/>
          </a:p>
        </p:txBody>
      </p:sp>
      <p:sp>
        <p:nvSpPr>
          <p:cNvPr id="10" name="TextBox 9"/>
          <p:cNvSpPr txBox="1"/>
          <p:nvPr/>
        </p:nvSpPr>
        <p:spPr>
          <a:xfrm>
            <a:off x="6537960" y="1554480"/>
            <a:ext cx="4937760" cy="457200"/>
          </a:xfrm>
          <a:prstGeom prst="rect">
            <a:avLst/>
          </a:prstGeom>
          <a:noFill/>
        </p:spPr>
        <p:txBody>
          <a:bodyPr wrap="square" anchor="t" lIns="45720" rIns="45720">
            <a:spAutoFit/>
          </a:bodyPr>
          <a:lstStyle/>
          <a:p>
            <a:pPr algn="l">
              <a:spcAft>
                <a:spcPts val="600"/>
              </a:spcAft>
            </a:pPr>
            <a:r>
              <a:rPr sz="2200" b="1">
                <a:solidFill>
                  <a:srgbClr val="008080"/>
                </a:solidFill>
                <a:latin typeface="Calibri"/>
              </a:rPr>
              <a:t>Limitations</a:t>
            </a:r>
          </a:p>
        </p:txBody>
      </p:sp>
      <p:sp>
        <p:nvSpPr>
          <p:cNvPr id="11" name="TextBox 10"/>
          <p:cNvSpPr txBox="1"/>
          <p:nvPr/>
        </p:nvSpPr>
        <p:spPr>
          <a:xfrm>
            <a:off x="6537960" y="2103120"/>
            <a:ext cx="4937760" cy="2011680"/>
          </a:xfrm>
          <a:prstGeom prst="rect">
            <a:avLst/>
          </a:prstGeom>
          <a:noFill/>
        </p:spPr>
        <p:txBody>
          <a:bodyPr wrap="square" anchor="t" lIns="45720" rIns="45720">
            <a:spAutoFit/>
          </a:bodyPr>
          <a:lstStyle/>
          <a:p>
            <a:pPr algn="l">
              <a:spcAft>
                <a:spcPts val="800"/>
              </a:spcAft>
            </a:pPr>
            <a:r>
              <a:rPr sz="1600" b="0">
                <a:solidFill>
                  <a:srgbClr val="222222"/>
                </a:solidFill>
                <a:latin typeface="Calibri"/>
              </a:rPr>
              <a:t>One relevant holding per query; Precision@10 capped at 0.1.</a:t>
            </a:r>
          </a:p>
          <a:p>
            <a:pPr algn="l">
              <a:spcAft>
                <a:spcPts val="800"/>
              </a:spcAft>
            </a:pPr>
            <a:r>
              <a:rPr sz="1600" b="0">
                <a:solidFill>
                  <a:srgbClr val="222222"/>
                </a:solidFill>
                <a:latin typeface="Calibri"/>
              </a:rPr>
              <a:t>Pool = test-split holdings, not a full case law database.</a:t>
            </a:r>
          </a:p>
          <a:p>
            <a:pPr algn="l">
              <a:spcAft>
                <a:spcPts val="800"/>
              </a:spcAft>
            </a:pPr>
            <a:r>
              <a:rPr sz="1600" b="0">
                <a:solidFill>
                  <a:srgbClr val="222222"/>
                </a:solidFill>
                <a:latin typeface="Calibri"/>
              </a:rPr>
              <a:t>Small models, 1 training epoch, one laptop.</a:t>
            </a:r>
          </a:p>
        </p:txBody>
      </p:sp>
      <p:sp>
        <p:nvSpPr>
          <p:cNvPr id="12" name="TextBox 11"/>
          <p:cNvSpPr txBox="1"/>
          <p:nvPr/>
        </p:nvSpPr>
        <p:spPr>
          <a:xfrm>
            <a:off x="6537960" y="3977639"/>
            <a:ext cx="4937760" cy="457200"/>
          </a:xfrm>
          <a:prstGeom prst="rect">
            <a:avLst/>
          </a:prstGeom>
          <a:noFill/>
        </p:spPr>
        <p:txBody>
          <a:bodyPr wrap="square" anchor="t" lIns="45720" rIns="45720">
            <a:spAutoFit/>
          </a:bodyPr>
          <a:lstStyle/>
          <a:p>
            <a:pPr algn="l">
              <a:spcAft>
                <a:spcPts val="600"/>
              </a:spcAft>
            </a:pPr>
            <a:r>
              <a:rPr sz="2200" b="1">
                <a:solidFill>
                  <a:srgbClr val="008080"/>
                </a:solidFill>
                <a:latin typeface="Calibri"/>
              </a:rPr>
              <a:t>Next steps</a:t>
            </a:r>
          </a:p>
        </p:txBody>
      </p:sp>
      <p:sp>
        <p:nvSpPr>
          <p:cNvPr id="13" name="TextBox 12"/>
          <p:cNvSpPr txBox="1"/>
          <p:nvPr/>
        </p:nvSpPr>
        <p:spPr>
          <a:xfrm>
            <a:off x="6537960" y="4526280"/>
            <a:ext cx="4937760" cy="1463040"/>
          </a:xfrm>
          <a:prstGeom prst="rect">
            <a:avLst/>
          </a:prstGeom>
          <a:noFill/>
        </p:spPr>
        <p:txBody>
          <a:bodyPr wrap="square" anchor="t" lIns="45720" rIns="45720">
            <a:spAutoFit/>
          </a:bodyPr>
          <a:lstStyle/>
          <a:p>
            <a:pPr algn="l">
              <a:spcAft>
                <a:spcPts val="800"/>
              </a:spcAft>
            </a:pPr>
            <a:r>
              <a:rPr sz="1600" b="0">
                <a:solidFill>
                  <a:srgbClr val="222222"/>
                </a:solidFill>
                <a:latin typeface="Calibri"/>
              </a:rPr>
              <a:t>Legal-domain encoder (e.g. Legal-BERT).</a:t>
            </a:r>
          </a:p>
          <a:p>
            <a:pPr algn="l">
              <a:spcAft>
                <a:spcPts val="800"/>
              </a:spcAft>
            </a:pPr>
            <a:r>
              <a:rPr sz="1600" b="0">
                <a:solidFill>
                  <a:srgbClr val="222222"/>
                </a:solidFill>
                <a:latin typeface="Calibri"/>
              </a:rPr>
              <a:t>Train the re-ranker on CaseHOLD itself.</a:t>
            </a:r>
          </a:p>
          <a:p>
            <a:pPr algn="l">
              <a:spcAft>
                <a:spcPts val="800"/>
              </a:spcAft>
            </a:pPr>
            <a:r>
              <a:rPr sz="1600" b="0">
                <a:solidFill>
                  <a:srgbClr val="222222"/>
                </a:solidFill>
                <a:latin typeface="Calibri"/>
              </a:rPr>
              <a:t>Weighted RRF instead of equal weights.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spcAft>
                <a:spcPts val="600"/>
              </a:spcAft>
            </a:pPr>
            <a:r>
              <a:rPr sz="3000" b="1">
                <a:solidFill>
                  <a:srgbClr val="1B365D"/>
                </a:solidFill>
                <a:latin typeface="Calibri"/>
              </a:rPr>
              <a:t>References</a:t>
            </a:r>
          </a:p>
        </p:txBody>
      </p:sp>
      <p:sp>
        <p:nvSpPr>
          <p:cNvPr id="3" name="Rectangle 2"/>
          <p:cNvSpPr/>
          <p:nvPr/>
        </p:nvSpPr>
        <p:spPr>
          <a:xfrm>
            <a:off x="548640" y="1097280"/>
            <a:ext cx="11064240" cy="27432"/>
          </a:xfrm>
          <a:prstGeom prst="rect">
            <a:avLst/>
          </a:prstGeom>
          <a:solidFill>
            <a:srgbClr val="1B365D"/>
          </a:solidFill>
          <a:ln>
            <a:noFill/>
          </a:ln>
        </p:spPr>
        <p:txBody>
          <a:bodyPr rtlCol="0" anchor="ctr"/>
          <a:lstStyle/>
          <a:p>
            <a:pPr algn="ctr"/>
          </a:p>
        </p:txBody>
      </p:sp>
      <p:sp>
        <p:nvSpPr>
          <p:cNvPr id="4" name="TextBox 3"/>
          <p:cNvSpPr txBox="1"/>
          <p:nvPr/>
        </p:nvSpPr>
        <p:spPr>
          <a:xfrm>
            <a:off x="548640" y="109728"/>
            <a:ext cx="10972800" cy="320040"/>
          </a:xfrm>
          <a:prstGeom prst="rect">
            <a:avLst/>
          </a:prstGeom>
          <a:noFill/>
        </p:spPr>
        <p:txBody>
          <a:bodyPr wrap="square" anchor="t" lIns="45720" rIns="45720">
            <a:spAutoFit/>
          </a:bodyPr>
          <a:lstStyle/>
          <a:p>
            <a:pPr algn="l">
              <a:spcAft>
                <a:spcPts val="600"/>
              </a:spcAft>
            </a:pPr>
            <a:r>
              <a:rPr sz="1200" b="1">
                <a:solidFill>
                  <a:srgbClr val="008080"/>
                </a:solidFill>
                <a:latin typeface="Calibri"/>
              </a:rPr>
              <a:t>References</a:t>
            </a:r>
          </a:p>
        </p:txBody>
      </p:sp>
      <p:sp>
        <p:nvSpPr>
          <p:cNvPr id="5" name="TextBox 4"/>
          <p:cNvSpPr txBox="1"/>
          <p:nvPr/>
        </p:nvSpPr>
        <p:spPr>
          <a:xfrm>
            <a:off x="548640" y="6400800"/>
            <a:ext cx="8229600" cy="320040"/>
          </a:xfrm>
          <a:prstGeom prst="rect">
            <a:avLst/>
          </a:prstGeom>
          <a:noFill/>
        </p:spPr>
        <p:txBody>
          <a:bodyPr wrap="square" anchor="t" lIns="45720" rIns="45720">
            <a:spAutoFit/>
          </a:bodyPr>
          <a:lstStyle/>
          <a:p>
            <a:pPr algn="l">
              <a:spcAft>
                <a:spcPts val="600"/>
              </a:spcAft>
            </a:pPr>
            <a:r>
              <a:rPr sz="1000" b="0">
                <a:solidFill>
                  <a:srgbClr val="595959"/>
                </a:solidFill>
                <a:latin typeface="Calibri"/>
              </a:rPr>
              <a:t>Group 13 · Legal Retrieval using CaseHOLD · CSE4144 Information Retrieval</a:t>
            </a:r>
          </a:p>
        </p:txBody>
      </p:sp>
      <p:sp>
        <p:nvSpPr>
          <p:cNvPr id="6" name="TextBox 5"/>
          <p:cNvSpPr txBox="1"/>
          <p:nvPr/>
        </p:nvSpPr>
        <p:spPr>
          <a:xfrm>
            <a:off x="10698480" y="6400800"/>
            <a:ext cx="914400" cy="320040"/>
          </a:xfrm>
          <a:prstGeom prst="rect">
            <a:avLst/>
          </a:prstGeom>
          <a:noFill/>
        </p:spPr>
        <p:txBody>
          <a:bodyPr wrap="square" anchor="t" lIns="45720" rIns="45720">
            <a:spAutoFit/>
          </a:bodyPr>
          <a:lstStyle/>
          <a:p>
            <a:pPr algn="r">
              <a:spcAft>
                <a:spcPts val="600"/>
              </a:spcAft>
            </a:pPr>
            <a:r>
              <a:rPr sz="1000" b="0">
                <a:solidFill>
                  <a:srgbClr val="595959"/>
                </a:solidFill>
                <a:latin typeface="Calibri"/>
              </a:rPr>
              <a:t>17 / 17</a:t>
            </a:r>
          </a:p>
        </p:txBody>
      </p:sp>
      <p:sp>
        <p:nvSpPr>
          <p:cNvPr id="7" name="TextBox 6"/>
          <p:cNvSpPr txBox="1"/>
          <p:nvPr/>
        </p:nvSpPr>
        <p:spPr>
          <a:xfrm>
            <a:off x="548640" y="1417320"/>
            <a:ext cx="11064240" cy="4754880"/>
          </a:xfrm>
          <a:prstGeom prst="rect">
            <a:avLst/>
          </a:prstGeom>
          <a:noFill/>
        </p:spPr>
        <p:txBody>
          <a:bodyPr wrap="square" anchor="t" lIns="45720" rIns="45720">
            <a:spAutoFit/>
          </a:bodyPr>
          <a:lstStyle/>
          <a:p>
            <a:pPr algn="l">
              <a:spcAft>
                <a:spcPts val="900"/>
              </a:spcAft>
            </a:pPr>
            <a:r>
              <a:rPr sz="1500" b="0">
                <a:solidFill>
                  <a:srgbClr val="222222"/>
                </a:solidFill>
                <a:latin typeface="Calibri"/>
              </a:rPr>
              <a:t>Zheng, Guha, Anderson, Henderson, Ho. When Does Pretraining Help? Assessing Self-Supervised Learning for Law and the CaseHOLD Dataset. ICAIL 2021.</a:t>
            </a:r>
          </a:p>
          <a:p>
            <a:pPr algn="l">
              <a:spcAft>
                <a:spcPts val="900"/>
              </a:spcAft>
            </a:pPr>
            <a:r>
              <a:rPr sz="1500" b="0">
                <a:solidFill>
                  <a:srgbClr val="222222"/>
                </a:solidFill>
                <a:latin typeface="Calibri"/>
              </a:rPr>
              <a:t>Chalkidis et al. LexGLUE: A Benchmark Dataset for Legal Language Understanding in English. ACL 2022.</a:t>
            </a:r>
          </a:p>
          <a:p>
            <a:pPr algn="l">
              <a:spcAft>
                <a:spcPts val="900"/>
              </a:spcAft>
            </a:pPr>
            <a:r>
              <a:rPr sz="1500" b="0">
                <a:solidFill>
                  <a:srgbClr val="222222"/>
                </a:solidFill>
                <a:latin typeface="Calibri"/>
              </a:rPr>
              <a:t>Robertson, Zaragoza. The Probabilistic Relevance Framework: BM25 and Beyond. FnTIR 3(4), 2009.</a:t>
            </a:r>
          </a:p>
          <a:p>
            <a:pPr algn="l">
              <a:spcAft>
                <a:spcPts val="900"/>
              </a:spcAft>
            </a:pPr>
            <a:r>
              <a:rPr sz="1500" b="0">
                <a:solidFill>
                  <a:srgbClr val="222222"/>
                </a:solidFill>
                <a:latin typeface="Calibri"/>
              </a:rPr>
              <a:t>Cormack, Clarke, Buettcher. Reciprocal Rank Fusion outperforms Condorcet and individual Rank Learning Methods. SIGIR 2009.</a:t>
            </a:r>
          </a:p>
          <a:p>
            <a:pPr algn="l">
              <a:spcAft>
                <a:spcPts val="900"/>
              </a:spcAft>
            </a:pPr>
            <a:r>
              <a:rPr sz="1500" b="0">
                <a:solidFill>
                  <a:srgbClr val="222222"/>
                </a:solidFill>
                <a:latin typeface="Calibri"/>
              </a:rPr>
              <a:t>Reimers, Gurevych. Sentence-BERT: Sentence Embeddings using Siamese BERT-Networks. EMNLP 2019.</a:t>
            </a:r>
          </a:p>
          <a:p>
            <a:pPr algn="l">
              <a:spcAft>
                <a:spcPts val="900"/>
              </a:spcAft>
            </a:pPr>
            <a:r>
              <a:rPr sz="1500" b="0">
                <a:solidFill>
                  <a:srgbClr val="222222"/>
                </a:solidFill>
                <a:latin typeface="Calibri"/>
              </a:rPr>
              <a:t>Wang et al. MiniLM: Deep Self-Attention Distillation. NeurIPS 2020.</a:t>
            </a:r>
          </a:p>
          <a:p>
            <a:pPr algn="l">
              <a:spcAft>
                <a:spcPts val="900"/>
              </a:spcAft>
            </a:pPr>
            <a:r>
              <a:rPr sz="1500" b="0">
                <a:solidFill>
                  <a:srgbClr val="222222"/>
                </a:solidFill>
                <a:latin typeface="Calibri"/>
              </a:rPr>
              <a:t>Henderson et al. Efficient Natural Language Response Suggestion for Smart Reply. arXiv 2017.</a:t>
            </a:r>
          </a:p>
          <a:p>
            <a:pPr algn="l">
              <a:spcAft>
                <a:spcPts val="900"/>
              </a:spcAft>
            </a:pPr>
            <a:r>
              <a:rPr sz="1500" b="0">
                <a:solidFill>
                  <a:srgbClr val="222222"/>
                </a:solidFill>
                <a:latin typeface="Calibri"/>
              </a:rPr>
              <a:t>Nogueira, Cho. Passage Re-ranking with BERT. arXiv 2019.</a:t>
            </a:r>
          </a:p>
          <a:p>
            <a:pPr algn="l">
              <a:spcAft>
                <a:spcPts val="900"/>
              </a:spcAft>
            </a:pPr>
            <a:r>
              <a:rPr sz="1500" b="0">
                <a:solidFill>
                  <a:srgbClr val="222222"/>
                </a:solidFill>
                <a:latin typeface="Calibri"/>
              </a:rPr>
              <a:t>Manning, Raghavan, Schütze. Introduction to Information Retrieval. Cambridge University Press, 2008.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